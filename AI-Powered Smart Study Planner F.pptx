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54" autoAdjust="0"/>
    <p:restoredTop sz="94622" autoAdjust="0"/>
  </p:normalViewPr>
  <p:slideViewPr>
    <p:cSldViewPr>
      <p:cViewPr varScale="1">
        <p:scale>
          <a:sx n="71" d="100"/>
          <a:sy n="71" d="100"/>
        </p:scale>
        <p:origin x="58" y="4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995" y="1241425"/>
            <a:ext cx="8259445" cy="21875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no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5400" b="1" i="0" u="none" spc="200" baseline="0" dirty="0" smtClean="0">
                <a:solidFill>
                  <a:schemeClr val="accent1">
                    <a:lumMod val="75000"/>
                  </a:schemeClr>
                </a:solidFill>
                <a:latin typeface="思源黑体 Medium"/>
                <a:ea typeface="思源黑体 Medium"/>
              </a:rPr>
              <a:t>               Mini </a:t>
            </a:r>
            <a:r>
              <a:rPr lang="en-US" sz="5400" b="1" spc="200" dirty="0" smtClean="0">
                <a:solidFill>
                  <a:schemeClr val="accent1">
                    <a:lumMod val="75000"/>
                  </a:schemeClr>
                </a:solidFill>
                <a:latin typeface="思源黑体 Medium"/>
                <a:ea typeface="思源黑体 Medium"/>
              </a:rPr>
              <a:t>Project</a:t>
            </a:r>
          </a:p>
          <a:p>
            <a:pPr marL="0" indent="0" algn="l" fontAlgn="auto">
              <a:lnSpc>
                <a:spcPct val="110000"/>
              </a:lnSpc>
              <a:defRPr/>
            </a:pPr>
            <a:r>
              <a:rPr lang="en-US" sz="5400" b="1" i="0" u="none" spc="200" baseline="0" dirty="0" smtClean="0">
                <a:solidFill>
                  <a:schemeClr val="bg2"/>
                </a:solidFill>
                <a:latin typeface="思源黑体 Medium"/>
                <a:ea typeface="思源黑体 Medium"/>
              </a:rPr>
              <a:t>AI-Powered </a:t>
            </a:r>
            <a:r>
              <a:rPr lang="en-US" sz="5400" b="1" i="0" u="none" spc="200" baseline="0" dirty="0">
                <a:solidFill>
                  <a:schemeClr val="bg2"/>
                </a:solidFill>
                <a:latin typeface="思源黑体 Medium"/>
                <a:ea typeface="思源黑体 Medium"/>
              </a:rPr>
              <a:t>Smart Study Planner</a:t>
            </a:r>
            <a:endParaRPr lang="en-US" sz="1100" dirty="0"/>
          </a:p>
        </p:txBody>
      </p:sp>
      <p:sp>
        <p:nvSpPr>
          <p:cNvPr id="3" name="TextBox 3"/>
          <p:cNvSpPr txBox="1"/>
          <p:nvPr/>
        </p:nvSpPr>
        <p:spPr>
          <a:xfrm>
            <a:off x="869314" y="4615180"/>
            <a:ext cx="3245485" cy="2062103"/>
          </a:xfrm>
          <a:prstGeom prst="rect">
            <a:avLst/>
          </a:prstGeom>
          <a:grp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baseline="0" dirty="0" smtClean="0">
                <a:solidFill>
                  <a:srgbClr val="FFFFFF">
                    <a:alpha val="100000"/>
                  </a:srgbClr>
                </a:solidFill>
                <a:latin typeface="思源黑体 CN Normal"/>
                <a:ea typeface="思源黑体 CN Normal"/>
              </a:rPr>
              <a:t>Presenter</a:t>
            </a:r>
            <a:r>
              <a:rPr lang="en-US" sz="3200" b="1" i="0" u="none" baseline="0" dirty="0" smtClean="0">
                <a:solidFill>
                  <a:srgbClr val="FFFFFF">
                    <a:alpha val="100000"/>
                  </a:srgbClr>
                </a:solidFill>
                <a:latin typeface="思源黑体 Normal"/>
                <a:ea typeface="思源黑体 Normal"/>
              </a:rPr>
              <a:t>:</a:t>
            </a:r>
            <a:r>
              <a:rPr lang="en-US" sz="3200" b="1" i="0" u="none" dirty="0" smtClean="0">
                <a:solidFill>
                  <a:srgbClr val="FFFFFF">
                    <a:alpha val="100000"/>
                  </a:srgbClr>
                </a:solidFill>
                <a:latin typeface="思源黑体 Normal"/>
                <a:ea typeface="思源黑体 Normal"/>
              </a:rPr>
              <a:t> </a:t>
            </a:r>
          </a:p>
          <a:p>
            <a:pPr marL="0" indent="0" algn="l">
              <a:lnSpc>
                <a:spcPct val="100000"/>
              </a:lnSpc>
              <a:defRPr/>
            </a:pPr>
            <a:r>
              <a:rPr lang="en-US" sz="2400" dirty="0" err="1" smtClean="0">
                <a:solidFill>
                  <a:srgbClr val="FFFFFF">
                    <a:alpha val="100000"/>
                  </a:srgbClr>
                </a:solidFill>
                <a:latin typeface="思源黑体 Normal"/>
              </a:rPr>
              <a:t>Nandika</a:t>
            </a:r>
            <a:r>
              <a:rPr lang="en-US" sz="2400" dirty="0" smtClean="0">
                <a:solidFill>
                  <a:srgbClr val="FFFFFF">
                    <a:alpha val="100000"/>
                  </a:srgbClr>
                </a:solidFill>
                <a:latin typeface="思源黑体 Normal"/>
              </a:rPr>
              <a:t> :242</a:t>
            </a:r>
          </a:p>
          <a:p>
            <a:pPr marL="0" indent="0" algn="l">
              <a:lnSpc>
                <a:spcPct val="100000"/>
              </a:lnSpc>
              <a:defRPr/>
            </a:pPr>
            <a:r>
              <a:rPr lang="en-US" sz="2400" dirty="0" err="1" smtClean="0">
                <a:solidFill>
                  <a:srgbClr val="FFFFFF">
                    <a:alpha val="100000"/>
                  </a:srgbClr>
                </a:solidFill>
                <a:latin typeface="思源黑体 Normal"/>
              </a:rPr>
              <a:t>Mrityunjay</a:t>
            </a:r>
            <a:r>
              <a:rPr lang="en-US" sz="2400" dirty="0" smtClean="0">
                <a:solidFill>
                  <a:srgbClr val="FFFFFF">
                    <a:alpha val="100000"/>
                  </a:srgbClr>
                </a:solidFill>
                <a:latin typeface="思源黑体 Normal"/>
              </a:rPr>
              <a:t> :236</a:t>
            </a:r>
          </a:p>
          <a:p>
            <a:pPr marL="0" indent="0" algn="l">
              <a:lnSpc>
                <a:spcPct val="100000"/>
              </a:lnSpc>
              <a:defRPr/>
            </a:pPr>
            <a:r>
              <a:rPr lang="en-US" sz="2400" dirty="0" err="1" smtClean="0">
                <a:solidFill>
                  <a:srgbClr val="FFFFFF">
                    <a:alpha val="100000"/>
                  </a:srgbClr>
                </a:solidFill>
                <a:latin typeface="思源黑体 Normal"/>
              </a:rPr>
              <a:t>Mridul</a:t>
            </a:r>
            <a:r>
              <a:rPr lang="en-US" sz="2400" dirty="0" smtClean="0">
                <a:solidFill>
                  <a:srgbClr val="FFFFFF">
                    <a:alpha val="100000"/>
                  </a:srgbClr>
                </a:solidFill>
                <a:latin typeface="思源黑体 Normal"/>
              </a:rPr>
              <a:t> :235</a:t>
            </a:r>
          </a:p>
          <a:p>
            <a:pPr marL="0" indent="0" algn="l">
              <a:lnSpc>
                <a:spcPct val="100000"/>
              </a:lnSpc>
              <a:defRPr/>
            </a:pPr>
            <a:r>
              <a:rPr lang="en-US" sz="2400" dirty="0" smtClean="0">
                <a:solidFill>
                  <a:srgbClr val="FFFFFF">
                    <a:alpha val="100000"/>
                  </a:srgbClr>
                </a:solidFill>
                <a:latin typeface="思源黑体 Normal"/>
              </a:rPr>
              <a:t>Section :CSIT2E</a:t>
            </a:r>
            <a:endParaRPr lang="en-US" sz="2400" dirty="0"/>
          </a:p>
        </p:txBody>
      </p:sp>
      <p:sp>
        <p:nvSpPr>
          <p:cNvPr id="4" name="AutoShape 4"/>
          <p:cNvSpPr/>
          <p:nvPr/>
        </p:nvSpPr>
        <p:spPr>
          <a:xfrm>
            <a:off x="7239000" y="4608195"/>
            <a:ext cx="4419600" cy="1569660"/>
          </a:xfrm>
          <a:prstGeom prst="rect">
            <a:avLst/>
          </a:prstGeom>
          <a:grp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/>
            <a:r>
              <a:rPr lang="en-US" sz="2400" b="1" dirty="0" smtClean="0">
                <a:solidFill>
                  <a:schemeClr val="bg1"/>
                </a:solidFill>
                <a:latin typeface="思源黑体 CN Normal"/>
                <a:ea typeface="思源黑体 Normal"/>
              </a:rPr>
              <a:t>Session</a:t>
            </a:r>
            <a:r>
              <a:rPr lang="en-US" sz="2400" b="0" i="0" u="none" baseline="0" dirty="0" smtClean="0">
                <a:solidFill>
                  <a:schemeClr val="bg2"/>
                </a:solidFill>
                <a:latin typeface="思源黑体 Normal"/>
                <a:ea typeface="思源黑体 Normal"/>
              </a:rPr>
              <a:t>。2025-2029</a:t>
            </a:r>
          </a:p>
          <a:p>
            <a:pPr marL="0" algn="l"/>
            <a:endParaRPr lang="en-US" sz="2400" dirty="0">
              <a:solidFill>
                <a:schemeClr val="bg2"/>
              </a:solidFill>
              <a:latin typeface="思源黑体 Normal"/>
              <a:ea typeface="思源黑体 Normal"/>
            </a:endParaRPr>
          </a:p>
          <a:p>
            <a:pPr marL="0" algn="l"/>
            <a:endParaRPr lang="en-US" sz="2400" dirty="0">
              <a:solidFill>
                <a:schemeClr val="bg2"/>
              </a:solidFill>
              <a:latin typeface="思源黑体 Normal"/>
              <a:ea typeface="思源黑体 Normal"/>
            </a:endParaRPr>
          </a:p>
          <a:p>
            <a:pPr marL="0" algn="l"/>
            <a:r>
              <a:rPr lang="en-US" sz="2400" b="1" i="0" u="none" baseline="0" dirty="0" smtClean="0">
                <a:solidFill>
                  <a:schemeClr val="bg2"/>
                </a:solidFill>
                <a:latin typeface="思源黑体 Normal"/>
                <a:ea typeface="思源黑体 Normal"/>
              </a:rPr>
              <a:t>Faculty</a:t>
            </a:r>
            <a:r>
              <a:rPr lang="en-US" sz="2400" b="0" i="0" u="none" baseline="0" dirty="0" smtClean="0">
                <a:solidFill>
                  <a:schemeClr val="bg2"/>
                </a:solidFill>
                <a:latin typeface="思源黑体 Normal"/>
                <a:ea typeface="思源黑体 Normal"/>
              </a:rPr>
              <a:t>:</a:t>
            </a:r>
            <a:r>
              <a:rPr lang="en-US" sz="2400" b="0" i="0" u="none" dirty="0" smtClean="0">
                <a:solidFill>
                  <a:schemeClr val="bg2"/>
                </a:solidFill>
                <a:latin typeface="思源黑体 Normal"/>
                <a:ea typeface="思源黑体 Normal"/>
              </a:rPr>
              <a:t> Tapas Kumar Mishra </a:t>
            </a:r>
            <a:endParaRPr lang="en-US" sz="2400" b="0" i="0" u="none" baseline="0" dirty="0" smtClean="0">
              <a:solidFill>
                <a:schemeClr val="bg2"/>
              </a:solidFill>
              <a:latin typeface="思源黑体 Normal"/>
              <a:ea typeface="思源黑体 Norm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57200" y="4615180"/>
            <a:ext cx="354330" cy="354330"/>
          </a:xfrm>
          <a:prstGeom prst="ellipse">
            <a:avLst/>
          </a:prstGeom>
          <a:solidFill>
            <a:srgbClr val="D8B75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705600" y="4608195"/>
            <a:ext cx="354330" cy="354330"/>
          </a:xfrm>
          <a:prstGeom prst="ellipse">
            <a:avLst/>
          </a:prstGeom>
          <a:solidFill>
            <a:srgbClr val="D8B75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217" y="0"/>
            <a:ext cx="1673783" cy="1241425"/>
          </a:xfrm>
          <a:prstGeom prst="rect">
            <a:avLst/>
          </a:prstGeom>
        </p:spPr>
      </p:pic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03270" y="846455"/>
            <a:ext cx="7402195" cy="5165090"/>
            <a:chOff x="6179" y="1986"/>
            <a:chExt cx="11657" cy="8134"/>
          </a:xfrm>
        </p:grpSpPr>
        <p:sp>
          <p:nvSpPr>
            <p:cNvPr id="3" name="TextBox 3"/>
            <p:cNvSpPr txBox="1"/>
            <p:nvPr/>
          </p:nvSpPr>
          <p:spPr>
            <a:xfrm>
              <a:off x="6179" y="3276"/>
              <a:ext cx="1361" cy="907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Autofit/>
            </a:bodyPr>
            <a:lstStyle/>
            <a:p>
              <a:pPr marL="0" indent="0" algn="l" fontAlgn="auto">
                <a:lnSpc>
                  <a:spcPct val="100000"/>
                </a:lnSpc>
                <a:defRPr/>
              </a:pPr>
              <a:r>
                <a:rPr lang="en-US" sz="3200" b="0" i="0" u="none" baseline="0">
                  <a:solidFill>
                    <a:schemeClr val="tx2"/>
                  </a:solidFill>
                  <a:latin typeface="思源黑体 Normal"/>
                  <a:ea typeface="思源黑体 Normal"/>
                </a:rPr>
                <a:t>02</a:t>
              </a:r>
              <a:endParaRPr lang="en-US" sz="11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79" y="7924"/>
              <a:ext cx="1361" cy="9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00000"/>
                </a:lnSpc>
                <a:defRPr/>
              </a:pPr>
              <a:r>
                <a:rPr lang="en-US" sz="3200" b="0" i="0" u="none" baseline="0">
                  <a:solidFill>
                    <a:schemeClr val="tx2"/>
                  </a:solidFill>
                  <a:latin typeface="思源黑体 Normal"/>
                  <a:ea typeface="思源黑体 Normal"/>
                </a:rPr>
                <a:t>06</a:t>
              </a:r>
              <a:endParaRPr lang="en-US" sz="11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179" y="5600"/>
              <a:ext cx="1361" cy="9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00000"/>
                </a:lnSpc>
                <a:defRPr/>
              </a:pPr>
              <a:r>
                <a:rPr lang="en-US" sz="3200" b="0" i="0" u="none" baseline="0">
                  <a:solidFill>
                    <a:schemeClr val="tx2"/>
                  </a:solidFill>
                  <a:latin typeface="思源黑体 Normal"/>
                  <a:ea typeface="思源黑体 Normal"/>
                </a:rPr>
                <a:t>04</a:t>
              </a:r>
              <a:endParaRPr lang="en-US" sz="110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79" y="4438"/>
              <a:ext cx="1361" cy="9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00000"/>
                </a:lnSpc>
                <a:defRPr/>
              </a:pPr>
              <a:r>
                <a:rPr lang="en-US" sz="3200" b="0" i="0" u="none" baseline="0">
                  <a:solidFill>
                    <a:schemeClr val="tx2"/>
                  </a:solidFill>
                  <a:latin typeface="思源黑体 Normal"/>
                  <a:ea typeface="思源黑体 Normal"/>
                </a:rPr>
                <a:t>03</a:t>
              </a:r>
              <a:endParaRPr lang="en-US" sz="11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179" y="2114"/>
              <a:ext cx="1361" cy="9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00000"/>
                </a:lnSpc>
                <a:defRPr/>
              </a:pPr>
              <a:r>
                <a:rPr lang="en-US" sz="3200" b="0" i="0" u="none" baseline="0">
                  <a:solidFill>
                    <a:schemeClr val="tx2"/>
                  </a:solidFill>
                  <a:latin typeface="思源黑体 Normal"/>
                  <a:ea typeface="思源黑体 Normal"/>
                </a:rPr>
                <a:t>01</a:t>
              </a:r>
              <a:endParaRPr lang="en-US" sz="11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31" y="1986"/>
              <a:ext cx="10205" cy="116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  <a:scene3d>
                <a:camera prst="orthographicFront"/>
                <a:lightRig rig="threePt" dir="t"/>
              </a:scene3d>
            </a:bodyPr>
            <a:lstStyle/>
            <a:p>
              <a:pPr marL="0" indent="0" algn="l" fontAlgn="auto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200" b="0" i="0" u="none" baseline="0">
                  <a:solidFill>
                    <a:srgbClr val="D8B732"/>
                  </a:solidFill>
                  <a:latin typeface="思源黑体 Normal"/>
                  <a:ea typeface="思源黑体 Normal"/>
                </a:rPr>
                <a:t>Problem and Solution Overview</a:t>
              </a:r>
              <a:endParaRPr lang="en-US" sz="110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31" y="3148"/>
              <a:ext cx="10205" cy="1162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Autofit/>
            </a:bodyPr>
            <a:lstStyle/>
            <a:p>
              <a:pPr marL="0" indent="0" algn="l" fontAlgn="auto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200" b="0" i="0" u="none" baseline="0">
                  <a:solidFill>
                    <a:srgbClr val="D8B732"/>
                  </a:solidFill>
                  <a:latin typeface="思源黑体 Normal"/>
                  <a:ea typeface="思源黑体 Normal"/>
                </a:rPr>
                <a:t>Core Features and Functionality</a:t>
              </a:r>
              <a:endParaRPr lang="en-US" sz="11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31" y="4310"/>
              <a:ext cx="10205" cy="116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200" b="0" i="0" u="none" baseline="0">
                  <a:solidFill>
                    <a:srgbClr val="D8B732"/>
                  </a:solidFill>
                  <a:latin typeface="思源黑体 Normal"/>
                  <a:ea typeface="思源黑体 Normal"/>
                </a:rPr>
                <a:t>Technology Stack and System Architecture</a:t>
              </a:r>
              <a:endParaRPr lang="en-US" sz="110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31" y="5472"/>
              <a:ext cx="10205" cy="116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200" b="0" i="0" u="none" baseline="0">
                  <a:solidFill>
                    <a:srgbClr val="D8B732"/>
                  </a:solidFill>
                  <a:latin typeface="思源黑体 Normal"/>
                  <a:ea typeface="思源黑体 Normal"/>
                </a:rPr>
                <a:t>Database Design and API Structure</a:t>
              </a:r>
              <a:endParaRPr lang="en-US" sz="11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31" y="7796"/>
              <a:ext cx="10205" cy="116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200" b="0" i="0" u="none" baseline="0">
                  <a:solidFill>
                    <a:srgbClr val="D8B732"/>
                  </a:solidFill>
                  <a:latin typeface="思源黑体 Normal"/>
                  <a:ea typeface="思源黑体 Normal"/>
                </a:rPr>
                <a:t>Development Roadmap and Deployment</a:t>
              </a:r>
              <a:endParaRPr lang="en-US" sz="11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79" y="6762"/>
              <a:ext cx="1361" cy="9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00000"/>
                </a:lnSpc>
                <a:defRPr/>
              </a:pPr>
              <a:r>
                <a:rPr lang="en-US" sz="3200" b="0" i="0" u="none" baseline="0">
                  <a:solidFill>
                    <a:schemeClr val="tx2"/>
                  </a:solidFill>
                  <a:latin typeface="思源黑体 Normal"/>
                  <a:ea typeface="思源黑体 Normal"/>
                </a:rPr>
                <a:t>05</a:t>
              </a:r>
              <a:endParaRPr lang="en-US" sz="110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31" y="6634"/>
              <a:ext cx="10205" cy="116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200" b="0" i="0" u="none" baseline="0">
                  <a:solidFill>
                    <a:srgbClr val="D8B732"/>
                  </a:solidFill>
                  <a:latin typeface="思源黑体 Normal"/>
                  <a:ea typeface="思源黑体 Normal"/>
                </a:rPr>
                <a:t>User Interface and Workflow Design</a:t>
              </a:r>
              <a:endParaRPr lang="en-US" sz="110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79" y="9086"/>
              <a:ext cx="1361" cy="9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00000"/>
                </a:lnSpc>
                <a:defRPr/>
              </a:pPr>
              <a:r>
                <a:rPr lang="en-US" sz="3200" b="0" i="0" u="none" baseline="0">
                  <a:solidFill>
                    <a:schemeClr val="tx2"/>
                  </a:solidFill>
                  <a:latin typeface="思源黑体 Normal"/>
                  <a:ea typeface="思源黑体 Normal"/>
                </a:rPr>
                <a:t>07</a:t>
              </a:r>
              <a:endParaRPr lang="en-US" sz="110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31" y="8958"/>
              <a:ext cx="10205" cy="116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l" fontAlgn="auto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200" b="0" i="0" u="none" baseline="0">
                  <a:solidFill>
                    <a:srgbClr val="D8B732"/>
                  </a:solidFill>
                  <a:latin typeface="思源黑体 Normal"/>
                  <a:ea typeface="思源黑体 Normal"/>
                </a:rPr>
                <a:t>Example User Journey and Learning Path</a:t>
              </a:r>
              <a:endParaRPr lang="en-US" sz="110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-228600" y="2764106"/>
            <a:ext cx="3733800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5400" b="0" i="0" u="none" baseline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Normal"/>
                <a:ea typeface="思源黑体 Normal"/>
              </a:rPr>
              <a:t>Cont</a:t>
            </a:r>
            <a:r>
              <a:rPr lang="zh-CN" altLang="en-US" sz="5400" b="0" i="0" u="none" baseline="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Normal"/>
                <a:ea typeface="思源黑体 Normal"/>
              </a:rPr>
              <a:t>en</a:t>
            </a:r>
            <a:r>
              <a:rPr lang="zh-CN" altLang="en-US" sz="5400" b="0" i="0" u="none" baseline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Normal"/>
                <a:ea typeface="思源黑体 Normal"/>
              </a:rPr>
              <a:t>ts</a:t>
            </a:r>
            <a:endParaRPr lang="en-US" sz="5400" dirty="0"/>
          </a:p>
        </p:txBody>
      </p:sp>
      <p:sp>
        <p:nvSpPr>
          <p:cNvPr id="18" name="TextBox 18"/>
          <p:cNvSpPr txBox="1"/>
          <p:nvPr/>
        </p:nvSpPr>
        <p:spPr>
          <a:xfrm>
            <a:off x="1661908" y="3450013"/>
            <a:ext cx="1210589" cy="1323439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en-US" sz="110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down)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V="1">
            <a:off x="7397677" y="343864"/>
            <a:ext cx="1182986" cy="118298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3" name="Connector 3"/>
          <p:cNvCxnSpPr/>
          <p:nvPr/>
        </p:nvCxnSpPr>
        <p:spPr>
          <a:xfrm flipV="1">
            <a:off x="7451449" y="1283566"/>
            <a:ext cx="582816" cy="58281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4" name="Connector 4"/>
          <p:cNvCxnSpPr/>
          <p:nvPr/>
        </p:nvCxnSpPr>
        <p:spPr>
          <a:xfrm flipV="1">
            <a:off x="3103920" y="5241708"/>
            <a:ext cx="1182986" cy="118298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5" name="Connector 5"/>
          <p:cNvCxnSpPr/>
          <p:nvPr/>
        </p:nvCxnSpPr>
        <p:spPr>
          <a:xfrm flipV="1">
            <a:off x="3236970" y="5342873"/>
            <a:ext cx="582816" cy="58281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sp>
        <p:nvSpPr>
          <p:cNvPr id="6" name="TextBox 6"/>
          <p:cNvSpPr txBox="1"/>
          <p:nvPr/>
        </p:nvSpPr>
        <p:spPr>
          <a:xfrm>
            <a:off x="4037648" y="2112010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5000" b="0" i="0" u="none" baseline="0">
                <a:ln/>
                <a:solidFill>
                  <a:schemeClr val="bg2"/>
                </a:solidFill>
                <a:effectLst/>
                <a:latin typeface="思源黑体 Medium"/>
                <a:ea typeface="思源黑体 Medium"/>
              </a:rPr>
              <a:t>PART   01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2648585" y="3035300"/>
            <a:ext cx="7256145" cy="200850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chemeClr val="bg2"/>
                </a:solidFill>
                <a:latin typeface="思源黑体 Medium"/>
                <a:ea typeface="思源黑体 Medium"/>
              </a:rPr>
              <a:t>Problem and Solution Overview</a:t>
            </a:r>
            <a:endParaRPr lang="en-US" sz="1100"/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4661" y="1585024"/>
            <a:ext cx="4570894" cy="4535086"/>
            <a:chOff x="10570" y="2519"/>
            <a:chExt cx="7198" cy="7142"/>
          </a:xfrm>
        </p:grpSpPr>
        <p:sp>
          <p:nvSpPr>
            <p:cNvPr id="3" name="Freeform 3"/>
            <p:cNvSpPr/>
            <p:nvPr/>
          </p:nvSpPr>
          <p:spPr>
            <a:xfrm rot="11588930">
              <a:off x="10570" y="2844"/>
              <a:ext cx="6944" cy="6816"/>
            </a:xfrm>
            <a:custGeom>
              <a:avLst/>
              <a:gdLst/>
              <a:ahLst/>
              <a:cxnLst/>
              <a:rect l="l" t="t" r="r" b="b"/>
              <a:pathLst>
                <a:path w="2879096" h="2825937">
                  <a:moveTo>
                    <a:pt x="155801" y="656522"/>
                  </a:moveTo>
                  <a:cubicBezTo>
                    <a:pt x="280483" y="472785"/>
                    <a:pt x="506988" y="388965"/>
                    <a:pt x="723967" y="435637"/>
                  </a:cubicBezTo>
                  <a:cubicBezTo>
                    <a:pt x="907228" y="475071"/>
                    <a:pt x="1281656" y="484786"/>
                    <a:pt x="1725140" y="102453"/>
                  </a:cubicBezTo>
                  <a:cubicBezTo>
                    <a:pt x="1725140" y="102453"/>
                    <a:pt x="2146336" y="-241209"/>
                    <a:pt x="2574960" y="330291"/>
                  </a:cubicBezTo>
                  <a:cubicBezTo>
                    <a:pt x="3003585" y="901791"/>
                    <a:pt x="2879760" y="1720941"/>
                    <a:pt x="2794035" y="1930491"/>
                  </a:cubicBezTo>
                  <a:cubicBezTo>
                    <a:pt x="2708310" y="2140041"/>
                    <a:pt x="2460660" y="2835366"/>
                    <a:pt x="1851061" y="2825841"/>
                  </a:cubicBezTo>
                  <a:cubicBezTo>
                    <a:pt x="1241461" y="2816316"/>
                    <a:pt x="1451011" y="2175093"/>
                    <a:pt x="603286" y="1933729"/>
                  </a:cubicBezTo>
                  <a:cubicBezTo>
                    <a:pt x="-244440" y="1692366"/>
                    <a:pt x="22260" y="920841"/>
                    <a:pt x="107985" y="739866"/>
                  </a:cubicBezTo>
                  <a:cubicBezTo>
                    <a:pt x="121606" y="711291"/>
                    <a:pt x="137608" y="683288"/>
                    <a:pt x="155801" y="656522"/>
                  </a:cubicBezTo>
                  <a:close/>
                </a:path>
              </a:pathLst>
            </a:custGeom>
            <a:noFill/>
            <a:ln w="952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anchor="ctr"/>
            <a:lstStyle/>
            <a:p>
              <a:pPr marL="0" algn="l"/>
              <a:endParaRPr/>
            </a:p>
          </p:txBody>
        </p:sp>
        <p:pic>
          <p:nvPicPr>
            <p:cNvPr id="4" name="image70.jpeg"/>
            <p:cNvPicPr>
              <a:picLocks noChangeAspect="1"/>
            </p:cNvPicPr>
            <p:nvPr/>
          </p:nvPicPr>
          <p:blipFill rotWithShape="1">
            <a:blip r:embed="rId3"/>
            <a:srcRect l="14004" t="-5" r="14003" b="5"/>
            <a:stretch>
              <a:fillRect/>
            </a:stretch>
          </p:blipFill>
          <p:spPr>
            <a:xfrm rot="21445174">
              <a:off x="10657" y="2793"/>
              <a:ext cx="7111" cy="6598"/>
            </a:xfrm>
            <a:custGeom>
              <a:avLst/>
              <a:gdLst/>
              <a:ahLst/>
              <a:cxnLst/>
              <a:rect l="0" t="0" r="0" b="0"/>
              <a:pathLst>
                <a:path w="4515311" h="4189463">
                  <a:moveTo>
                    <a:pt x="1139864" y="1681"/>
                  </a:moveTo>
                  <a:cubicBezTo>
                    <a:pt x="1666331" y="38907"/>
                    <a:pt x="1958762" y="680183"/>
                    <a:pt x="3039740" y="494141"/>
                  </a:cubicBezTo>
                  <a:cubicBezTo>
                    <a:pt x="4370176" y="265163"/>
                    <a:pt x="4513638" y="1507199"/>
                    <a:pt x="4515307" y="1813904"/>
                  </a:cubicBezTo>
                  <a:cubicBezTo>
                    <a:pt x="4515453" y="1862388"/>
                    <a:pt x="4511932" y="1911661"/>
                    <a:pt x="4504565" y="1960680"/>
                  </a:cubicBezTo>
                  <a:cubicBezTo>
                    <a:pt x="4454282" y="2297034"/>
                    <a:pt x="4197159" y="2562971"/>
                    <a:pt x="3866646" y="2642434"/>
                  </a:cubicBezTo>
                  <a:cubicBezTo>
                    <a:pt x="3587485" y="2709528"/>
                    <a:pt x="3064108" y="2944432"/>
                    <a:pt x="2705395" y="3766393"/>
                  </a:cubicBezTo>
                  <a:cubicBezTo>
                    <a:pt x="2705395" y="3766393"/>
                    <a:pt x="2351807" y="4520184"/>
                    <a:pt x="1381038" y="4015432"/>
                  </a:cubicBezTo>
                  <a:cubicBezTo>
                    <a:pt x="410268" y="3510681"/>
                    <a:pt x="37969" y="2297647"/>
                    <a:pt x="17349" y="1951491"/>
                  </a:cubicBezTo>
                  <a:cubicBezTo>
                    <a:pt x="-3270" y="1605335"/>
                    <a:pt x="-122497" y="481134"/>
                    <a:pt x="725429" y="90005"/>
                  </a:cubicBezTo>
                  <a:cubicBezTo>
                    <a:pt x="884415" y="16668"/>
                    <a:pt x="1018371" y="-6910"/>
                    <a:pt x="1139864" y="1681"/>
                  </a:cubicBezTo>
                  <a:close/>
                </a:path>
              </a:pathLst>
            </a:custGeom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</p:pic>
        <p:sp>
          <p:nvSpPr>
            <p:cNvPr id="5" name="AutoShape 5"/>
            <p:cNvSpPr/>
            <p:nvPr/>
          </p:nvSpPr>
          <p:spPr>
            <a:xfrm>
              <a:off x="13808" y="2519"/>
              <a:ext cx="404" cy="404"/>
            </a:xfrm>
            <a:prstGeom prst="ellipse">
              <a:avLst/>
            </a:prstGeom>
            <a:gradFill>
              <a:gsLst>
                <a:gs pos="0">
                  <a:schemeClr val="accent2">
                    <a:lumMod val="25000"/>
                    <a:lumOff val="7500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85000"/>
                  </a:schemeClr>
                </a:gs>
              </a:gsLst>
              <a:lin ang="5400000"/>
            </a:gra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6" name="AutoShape 6"/>
            <p:cNvSpPr/>
            <p:nvPr/>
          </p:nvSpPr>
          <p:spPr>
            <a:xfrm>
              <a:off x="16460" y="8648"/>
              <a:ext cx="252" cy="252"/>
            </a:xfrm>
            <a:prstGeom prst="ellipse">
              <a:avLst/>
            </a:prstGeom>
            <a:gradFill>
              <a:gsLst>
                <a:gs pos="0">
                  <a:schemeClr val="accent2">
                    <a:lumMod val="25000"/>
                    <a:lumOff val="7500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85000"/>
                  </a:schemeClr>
                </a:gs>
              </a:gsLst>
              <a:lin ang="5400000"/>
            </a:gra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3620" y="1551940"/>
            <a:ext cx="5435600" cy="4601210"/>
            <a:chOff x="1657" y="2489"/>
            <a:chExt cx="8560" cy="7246"/>
          </a:xfrm>
        </p:grpSpPr>
        <p:sp>
          <p:nvSpPr>
            <p:cNvPr id="8" name="AutoShape 8"/>
            <p:cNvSpPr/>
            <p:nvPr/>
          </p:nvSpPr>
          <p:spPr>
            <a:xfrm>
              <a:off x="1657" y="3351"/>
              <a:ext cx="8560" cy="266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anchor="t">
              <a:normAutofit/>
            </a:bodyPr>
            <a:lstStyle/>
            <a:p>
              <a:pPr marL="0" indent="0" algn="l" fontAlgn="auto">
                <a:lnSpc>
                  <a:spcPct val="150000"/>
                </a:lnSpc>
              </a:pPr>
              <a:r>
                <a:rPr lang="en-US" sz="1500" b="0" i="0" u="none" baseline="0">
                  <a:solidFill>
                    <a:schemeClr val="bg2"/>
                  </a:solidFill>
                  <a:latin typeface="思源黑体 Normal"/>
                  <a:ea typeface="思源黑体 Normal"/>
                </a:rPr>
                <a:t>Many students struggle to manage study time effectively, create balanced timetables, and track their academic progress consistently.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7" y="2489"/>
              <a:ext cx="8560" cy="85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90000"/>
                </a:lnSpc>
                <a:defRPr/>
              </a:pPr>
              <a:r>
                <a:rPr lang="en-US" sz="2000" b="1" i="0" u="none" baseline="0">
                  <a:solidFill>
                    <a:srgbClr val="D8B750"/>
                  </a:solidFill>
                  <a:latin typeface="思源黑体 Normal"/>
                  <a:ea typeface="思源黑体 Normal"/>
                </a:rPr>
                <a:t>Time Management Difficulties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657" y="7071"/>
              <a:ext cx="8560" cy="266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anchor="t">
              <a:normAutofit/>
            </a:bodyPr>
            <a:lstStyle/>
            <a:p>
              <a:pPr marL="0" indent="0" algn="l" fontAlgn="auto">
                <a:lnSpc>
                  <a:spcPct val="150000"/>
                </a:lnSpc>
              </a:pPr>
              <a:r>
                <a:rPr lang="en-US" sz="1500" b="0" i="0" u="none" baseline="0">
                  <a:solidFill>
                    <a:schemeClr val="bg2"/>
                  </a:solidFill>
                  <a:latin typeface="思源黑体 Normal"/>
                  <a:ea typeface="思源黑体 Normal"/>
                </a:rPr>
                <a:t>Students often lose motivation and fail to prepare for exams efficiently due to a lack of structured guidance and personalized planning.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57" y="6226"/>
              <a:ext cx="8560" cy="85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90000"/>
                </a:lnSpc>
                <a:defRPr/>
              </a:pPr>
              <a:r>
                <a:rPr lang="en-US" sz="2000" b="1" i="0" u="none" baseline="0">
                  <a:solidFill>
                    <a:srgbClr val="D8B750"/>
                  </a:solidFill>
                  <a:latin typeface="思源黑体 Normal"/>
                  <a:ea typeface="思源黑体 Normal"/>
                </a:rPr>
                <a:t>Motivation and Exam Preparation Gaps</a:t>
              </a:r>
              <a:endParaRPr lang="en-US" sz="11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sp>
        <p:nvSpPr>
          <p:cNvPr id="13" name="TextBox 1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Student Challenges in Modern Education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7700" y="1528982"/>
            <a:ext cx="10848976" cy="4549862"/>
            <a:chOff x="671512" y="1814732"/>
            <a:chExt cx="10848976" cy="4549862"/>
          </a:xfrm>
        </p:grpSpPr>
        <p:cxnSp>
          <p:nvCxnSpPr>
            <p:cNvPr id="3" name="Connector 3"/>
            <p:cNvCxnSpPr/>
            <p:nvPr/>
          </p:nvCxnSpPr>
          <p:spPr>
            <a:xfrm>
              <a:off x="6115050" y="4152949"/>
              <a:ext cx="0" cy="2211645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</p:cxnSp>
        <p:grpSp>
          <p:nvGrpSpPr>
            <p:cNvPr id="4" name="Group 4"/>
            <p:cNvGrpSpPr/>
            <p:nvPr/>
          </p:nvGrpSpPr>
          <p:grpSpPr>
            <a:xfrm>
              <a:off x="671512" y="1814732"/>
              <a:ext cx="10848976" cy="2177071"/>
              <a:chOff x="671512" y="1814732"/>
              <a:chExt cx="10848976" cy="2177071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71512" y="1814732"/>
                <a:ext cx="10848976" cy="1776193"/>
              </a:xfrm>
              <a:prstGeom prst="rect">
                <a:avLst/>
              </a:prstGeom>
              <a:blipFill rotWithShape="1">
                <a:blip r:embed="rId3"/>
                <a:stretch>
                  <a:fillRect l="7" t="-147894" r="-7" b="-147244"/>
                </a:stretch>
              </a:blipFill>
              <a:ln cap="flat" cmpd="sng">
                <a:noFill/>
                <a:prstDash val="solid"/>
                <a:miter lim="800000"/>
              </a:ln>
              <a:effectLst/>
            </p:spPr>
            <p:txBody>
              <a:bodyPr vert="horz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" name="AutoShape 6"/>
              <p:cNvSpPr/>
              <p:nvPr/>
            </p:nvSpPr>
            <p:spPr>
              <a:xfrm>
                <a:off x="2829838" y="3156181"/>
                <a:ext cx="835622" cy="835622"/>
              </a:xfrm>
              <a:prstGeom prst="ellipse">
                <a:avLst/>
              </a:prstGeom>
              <a:solidFill>
                <a:srgbClr val="D8B750"/>
              </a:solidFill>
              <a:ln w="12700">
                <a:solidFill>
                  <a:srgbClr val="FFFFFF"/>
                </a:solidFill>
              </a:ln>
              <a:effectLst/>
            </p:spPr>
            <p:txBody>
              <a:bodyPr vert="horz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8590040" y="3156181"/>
              <a:ext cx="835622" cy="835622"/>
            </a:xfrm>
            <a:prstGeom prst="ellipse">
              <a:avLst/>
            </a:prstGeom>
            <a:solidFill>
              <a:srgbClr val="D8B750"/>
            </a:solidFill>
            <a:ln w="12700">
              <a:solidFill>
                <a:srgbClr val="FFFFFF"/>
              </a:solidFill>
            </a:ln>
            <a:effectLst/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06065" y="2943860"/>
            <a:ext cx="840740" cy="6794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2400" b="1" i="0" u="none" baseline="0">
                <a:solidFill>
                  <a:srgbClr val="FFFFFF"/>
                </a:solidFill>
                <a:latin typeface="思源黑体 Medium"/>
                <a:ea typeface="思源黑体 Medium"/>
              </a:rPr>
              <a:t>01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563610" y="2960370"/>
            <a:ext cx="838200" cy="6794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2400" b="1" i="0" u="none" baseline="0">
                <a:solidFill>
                  <a:srgbClr val="FFFFFF"/>
                </a:solidFill>
                <a:latin typeface="思源黑体 Medium"/>
                <a:ea typeface="思源黑体 Medium"/>
              </a:rPr>
              <a:t>02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775970" y="3756660"/>
            <a:ext cx="4896000" cy="43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88000"/>
              </a:lnSpc>
              <a:defRPr/>
            </a:pPr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Personalized Study Planning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75970" y="432181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Build an AI-powered application that creates personalized study plans, tracks learning progress, and recommends revision schedules tailored to individual needs.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1460" y="3756660"/>
            <a:ext cx="4896000" cy="43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88000"/>
              </a:lnSpc>
              <a:defRPr/>
            </a:pPr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Intelligent Assistance and Reminders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1460" y="432181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The application uses AI to answer study questions and sends timely reminders for upcoming tasks, ensuring students stay on track and motivated.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The AI-Powered Solution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sp>
        <p:nvSpPr>
          <p:cNvPr id="16" name="AutoShape 1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V="1">
            <a:off x="7397677" y="343864"/>
            <a:ext cx="1182986" cy="118298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3" name="Connector 3"/>
          <p:cNvCxnSpPr/>
          <p:nvPr/>
        </p:nvCxnSpPr>
        <p:spPr>
          <a:xfrm flipV="1">
            <a:off x="7451449" y="1283566"/>
            <a:ext cx="582816" cy="58281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4" name="Connector 4"/>
          <p:cNvCxnSpPr/>
          <p:nvPr/>
        </p:nvCxnSpPr>
        <p:spPr>
          <a:xfrm flipV="1">
            <a:off x="3103920" y="5241708"/>
            <a:ext cx="1182986" cy="118298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5" name="Connector 5"/>
          <p:cNvCxnSpPr/>
          <p:nvPr/>
        </p:nvCxnSpPr>
        <p:spPr>
          <a:xfrm flipV="1">
            <a:off x="3236970" y="5342873"/>
            <a:ext cx="582816" cy="58281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sp>
        <p:nvSpPr>
          <p:cNvPr id="6" name="TextBox 6"/>
          <p:cNvSpPr txBox="1"/>
          <p:nvPr/>
        </p:nvSpPr>
        <p:spPr>
          <a:xfrm>
            <a:off x="4037648" y="2112010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5000" b="0" i="0" u="none" baseline="0">
                <a:ln/>
                <a:solidFill>
                  <a:schemeClr val="bg2"/>
                </a:solidFill>
                <a:effectLst/>
                <a:latin typeface="思源黑体 Medium"/>
                <a:ea typeface="思源黑体 Medium"/>
              </a:rPr>
              <a:t>PART   02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2648585" y="3035300"/>
            <a:ext cx="7256145" cy="200850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chemeClr val="bg2"/>
                </a:solidFill>
                <a:latin typeface="思源黑体 Medium"/>
                <a:ea typeface="思源黑体 Medium"/>
              </a:rPr>
              <a:t>Core Features and Functionality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.jpeg"/>
          <p:cNvPicPr>
            <a:picLocks noChangeAspect="1"/>
          </p:cNvPicPr>
          <p:nvPr/>
        </p:nvPicPr>
        <p:blipFill>
          <a:blip r:embed="rId3"/>
          <a:srcRect l="12285" r="12285"/>
          <a:stretch>
            <a:fillRect/>
          </a:stretch>
        </p:blipFill>
        <p:spPr>
          <a:xfrm>
            <a:off x="-12700" y="1419543"/>
            <a:ext cx="5348028" cy="4724400"/>
          </a:xfrm>
          <a:custGeom>
            <a:avLst/>
            <a:gdLst/>
            <a:ahLst/>
            <a:cxnLst/>
            <a:rect l="0" t="0" r="0" b="0"/>
            <a:pathLst>
              <a:path w="5348028" h="4724400">
                <a:moveTo>
                  <a:pt x="0" y="0"/>
                </a:moveTo>
                <a:lnTo>
                  <a:pt x="2985828" y="0"/>
                </a:lnTo>
                <a:cubicBezTo>
                  <a:pt x="4290118" y="0"/>
                  <a:pt x="5348028" y="1057910"/>
                  <a:pt x="5348028" y="2362200"/>
                </a:cubicBezTo>
                <a:cubicBezTo>
                  <a:pt x="5348028" y="3666490"/>
                  <a:pt x="4290118" y="4724400"/>
                  <a:pt x="2985828" y="4724400"/>
                </a:cubicBezTo>
                <a:lnTo>
                  <a:pt x="0" y="4724400"/>
                </a:lnTo>
                <a:close/>
              </a:path>
            </a:pathLst>
          </a:custGeom>
          <a:ln w="9525" cap="flat" cmpd="sng">
            <a:solidFill>
              <a:schemeClr val="dk1">
                <a:alpha val="50000"/>
                <a:lumMod val="40000"/>
                <a:lumOff val="60000"/>
              </a:schemeClr>
            </a:solidFill>
            <a:prstDash val="solid"/>
          </a:ln>
        </p:spPr>
      </p:pic>
      <p:grpSp>
        <p:nvGrpSpPr>
          <p:cNvPr id="3" name="Group 3"/>
          <p:cNvGrpSpPr/>
          <p:nvPr/>
        </p:nvGrpSpPr>
        <p:grpSpPr>
          <a:xfrm>
            <a:off x="5755640" y="1220470"/>
            <a:ext cx="5594350" cy="5122545"/>
            <a:chOff x="9064" y="1742"/>
            <a:chExt cx="8810" cy="8067"/>
          </a:xfrm>
        </p:grpSpPr>
        <p:sp>
          <p:nvSpPr>
            <p:cNvPr id="4" name="TextBox 4"/>
            <p:cNvSpPr txBox="1"/>
            <p:nvPr/>
          </p:nvSpPr>
          <p:spPr>
            <a:xfrm>
              <a:off x="9064" y="2592"/>
              <a:ext cx="8811" cy="3118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chemeClr val="bg2"/>
                  </a:solidFill>
                  <a:latin typeface="思源黑体 Normal"/>
                  <a:ea typeface="思源黑体 Normal"/>
                </a:rPr>
                <a:t>The module includes login and signup functionality, user profile management, subject management, and goal-setting capabilities for personalized learning.</a:t>
              </a:r>
              <a:endParaRPr lang="en-US" sz="11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4" y="1742"/>
              <a:ext cx="8811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D8B750"/>
                  </a:solidFill>
                  <a:latin typeface="思源黑体 Normal"/>
                  <a:ea typeface="思源黑体 Normal"/>
                </a:rPr>
                <a:t>Student Account Management</a:t>
              </a:r>
              <a:endParaRPr lang="en-US" sz="110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64" y="6691"/>
              <a:ext cx="8811" cy="3118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chemeClr val="bg2"/>
                  </a:solidFill>
                  <a:latin typeface="思源黑体 Normal"/>
                  <a:ea typeface="思源黑体 Normal"/>
                </a:rPr>
                <a:t>The AI Study Planner creates personalized timetables, generates daily and weekly study plans, performs automatic rescheduling, and allocates tasks based on priority.</a:t>
              </a:r>
              <a:endParaRPr lang="en-US" sz="11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64" y="5841"/>
              <a:ext cx="8811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D8B750"/>
                  </a:solidFill>
                  <a:latin typeface="思源黑体 Normal"/>
                  <a:ea typeface="思源黑体 Normal"/>
                </a:rPr>
                <a:t>AI-Driven Timetable Generation</a:t>
              </a:r>
              <a:endParaRPr lang="en-US" sz="1100"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Student Module and AI Study Planner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across)">
                                      <p:cBhvr>
                                        <p:cTn id="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in)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012430" y="1141095"/>
            <a:ext cx="3296285" cy="5153660"/>
          </a:xfrm>
          <a:prstGeom prst="snip2DiagRect">
            <a:avLst/>
          </a:prstGeom>
          <a:noFill/>
          <a:ln>
            <a:solidFill>
              <a:schemeClr val="accent1">
                <a:alpha val="25000"/>
              </a:schemeClr>
            </a:solidFill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3" name="image70.jpeg"/>
          <p:cNvPicPr>
            <a:picLocks noChangeAspect="1"/>
          </p:cNvPicPr>
          <p:nvPr/>
        </p:nvPicPr>
        <p:blipFill>
          <a:blip r:embed="rId3"/>
          <a:srcRect l="28635" r="28635"/>
          <a:stretch>
            <a:fillRect/>
          </a:stretch>
        </p:blipFill>
        <p:spPr>
          <a:xfrm>
            <a:off x="7935595" y="1222375"/>
            <a:ext cx="3296285" cy="5153660"/>
          </a:xfrm>
          <a:custGeom>
            <a:avLst/>
            <a:gdLst/>
            <a:ahLst/>
            <a:cxnLst/>
            <a:rect l="0" t="0" r="0" b="0"/>
            <a:pathLst>
              <a:path w="5191" h="8116">
                <a:moveTo>
                  <a:pt x="0" y="0"/>
                </a:moveTo>
                <a:lnTo>
                  <a:pt x="4326" y="0"/>
                </a:lnTo>
                <a:lnTo>
                  <a:pt x="5191" y="865"/>
                </a:lnTo>
                <a:lnTo>
                  <a:pt x="5191" y="8116"/>
                </a:lnTo>
                <a:lnTo>
                  <a:pt x="865" y="8116"/>
                </a:lnTo>
                <a:lnTo>
                  <a:pt x="0" y="7251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0">
                  <a:schemeClr val="accent1"/>
                </a:gs>
                <a:gs pos="52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/>
            </a:gradFill>
          </a:ln>
        </p:spPr>
      </p:pic>
      <p:sp>
        <p:nvSpPr>
          <p:cNvPr id="4" name="Freeform 4"/>
          <p:cNvSpPr/>
          <p:nvPr/>
        </p:nvSpPr>
        <p:spPr>
          <a:xfrm flipH="1">
            <a:off x="11085830" y="6006465"/>
            <a:ext cx="216000" cy="216000"/>
          </a:xfrm>
          <a:custGeom>
            <a:avLst/>
            <a:gdLst/>
            <a:ahLst/>
            <a:cxnLst/>
            <a:rect l="l" t="t" r="r" b="b"/>
            <a:pathLst>
              <a:path w="255" h="384">
                <a:moveTo>
                  <a:pt x="0" y="50"/>
                </a:moveTo>
                <a:lnTo>
                  <a:pt x="6" y="383"/>
                </a:lnTo>
                <a:lnTo>
                  <a:pt x="255" y="384"/>
                </a:lnTo>
                <a:lnTo>
                  <a:pt x="255" y="288"/>
                </a:lnTo>
                <a:lnTo>
                  <a:pt x="75" y="288"/>
                </a:lnTo>
                <a:lnTo>
                  <a:pt x="75" y="0"/>
                </a:lnTo>
                <a:lnTo>
                  <a:pt x="0" y="5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70255" y="1496695"/>
            <a:ext cx="6374765" cy="585470"/>
          </a:xfrm>
          <a:custGeom>
            <a:avLst/>
            <a:gdLst/>
            <a:ahLst/>
            <a:cxnLst/>
            <a:rect l="l" t="t" r="r" b="b"/>
            <a:pathLst>
              <a:path w="10573" h="1032">
                <a:moveTo>
                  <a:pt x="10573" y="0"/>
                </a:moveTo>
                <a:lnTo>
                  <a:pt x="10573" y="545"/>
                </a:lnTo>
                <a:lnTo>
                  <a:pt x="9607" y="1032"/>
                </a:lnTo>
                <a:lnTo>
                  <a:pt x="0" y="1032"/>
                </a:lnTo>
                <a:lnTo>
                  <a:pt x="0" y="487"/>
                </a:lnTo>
                <a:lnTo>
                  <a:pt x="544" y="9"/>
                </a:lnTo>
                <a:lnTo>
                  <a:pt x="10573" y="0"/>
                </a:lnTo>
                <a:close/>
              </a:path>
            </a:pathLst>
          </a:custGeom>
          <a:noFill/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</a:gradFill>
          </a:ln>
        </p:spPr>
        <p:txBody>
          <a:bodyPr rot="0" vert="horz" wrap="square" lIns="252095" tIns="0" rIns="0" bIns="0" anchor="ctr">
            <a:noAutofit/>
          </a:bodyPr>
          <a:lstStyle/>
          <a:p>
            <a:pPr marL="0" algn="l"/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Intelligent Study Support</a:t>
            </a:r>
          </a:p>
        </p:txBody>
      </p:sp>
      <p:sp>
        <p:nvSpPr>
          <p:cNvPr id="6" name="Freeform 6"/>
          <p:cNvSpPr/>
          <p:nvPr/>
        </p:nvSpPr>
        <p:spPr>
          <a:xfrm>
            <a:off x="718820" y="1993900"/>
            <a:ext cx="161925" cy="215900"/>
          </a:xfrm>
          <a:custGeom>
            <a:avLst/>
            <a:gdLst/>
            <a:ahLst/>
            <a:cxnLst/>
            <a:rect l="l" t="t" r="r" b="b"/>
            <a:pathLst>
              <a:path w="255" h="384">
                <a:moveTo>
                  <a:pt x="0" y="50"/>
                </a:moveTo>
                <a:lnTo>
                  <a:pt x="6" y="383"/>
                </a:lnTo>
                <a:lnTo>
                  <a:pt x="255" y="384"/>
                </a:lnTo>
                <a:lnTo>
                  <a:pt x="255" y="288"/>
                </a:lnTo>
                <a:lnTo>
                  <a:pt x="75" y="288"/>
                </a:lnTo>
                <a:lnTo>
                  <a:pt x="75" y="0"/>
                </a:lnTo>
                <a:lnTo>
                  <a:pt x="0" y="5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 flipV="1">
            <a:off x="1136015" y="1428115"/>
            <a:ext cx="3743960" cy="36195"/>
          </a:xfrm>
          <a:custGeom>
            <a:avLst/>
            <a:gdLst/>
            <a:ahLst/>
            <a:cxnLst/>
            <a:rect l="l" t="t" r="r" b="b"/>
            <a:pathLst>
              <a:path w="1179613" h="21889">
                <a:moveTo>
                  <a:pt x="1157786" y="21889"/>
                </a:moveTo>
                <a:lnTo>
                  <a:pt x="1179613" y="0"/>
                </a:lnTo>
                <a:lnTo>
                  <a:pt x="0" y="0"/>
                </a:lnTo>
                <a:lnTo>
                  <a:pt x="21889" y="21889"/>
                </a:lnTo>
                <a:lnTo>
                  <a:pt x="1157786" y="21889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5000"/>
                </a:schemeClr>
              </a:gs>
              <a:gs pos="86000">
                <a:schemeClr val="accent1">
                  <a:alpha val="0"/>
                </a:schemeClr>
              </a:gs>
            </a:gsLst>
            <a:lin ang="2700000"/>
          </a:gra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70255" y="4003040"/>
            <a:ext cx="6374765" cy="585470"/>
          </a:xfrm>
          <a:custGeom>
            <a:avLst/>
            <a:gdLst/>
            <a:ahLst/>
            <a:cxnLst/>
            <a:rect l="l" t="t" r="r" b="b"/>
            <a:pathLst>
              <a:path w="10573" h="1032">
                <a:moveTo>
                  <a:pt x="10573" y="0"/>
                </a:moveTo>
                <a:lnTo>
                  <a:pt x="10573" y="545"/>
                </a:lnTo>
                <a:lnTo>
                  <a:pt x="9607" y="1032"/>
                </a:lnTo>
                <a:lnTo>
                  <a:pt x="0" y="1032"/>
                </a:lnTo>
                <a:lnTo>
                  <a:pt x="0" y="487"/>
                </a:lnTo>
                <a:lnTo>
                  <a:pt x="544" y="9"/>
                </a:lnTo>
                <a:lnTo>
                  <a:pt x="10573" y="0"/>
                </a:lnTo>
                <a:close/>
              </a:path>
            </a:pathLst>
          </a:custGeom>
          <a:noFill/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</a:gradFill>
          </a:ln>
        </p:spPr>
        <p:txBody>
          <a:bodyPr rot="0" vert="horz" wrap="square" lIns="252095" tIns="0" rIns="0" bIns="0" anchor="ctr">
            <a:noAutofit/>
          </a:bodyPr>
          <a:lstStyle/>
          <a:p>
            <a:pPr marL="0" algn="l"/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Performance Monitoring</a:t>
            </a:r>
          </a:p>
        </p:txBody>
      </p:sp>
      <p:sp>
        <p:nvSpPr>
          <p:cNvPr id="9" name="Freeform 9"/>
          <p:cNvSpPr/>
          <p:nvPr/>
        </p:nvSpPr>
        <p:spPr>
          <a:xfrm>
            <a:off x="718820" y="4500245"/>
            <a:ext cx="161925" cy="215900"/>
          </a:xfrm>
          <a:custGeom>
            <a:avLst/>
            <a:gdLst/>
            <a:ahLst/>
            <a:cxnLst/>
            <a:rect l="l" t="t" r="r" b="b"/>
            <a:pathLst>
              <a:path w="255" h="384">
                <a:moveTo>
                  <a:pt x="0" y="50"/>
                </a:moveTo>
                <a:lnTo>
                  <a:pt x="6" y="383"/>
                </a:lnTo>
                <a:lnTo>
                  <a:pt x="255" y="384"/>
                </a:lnTo>
                <a:lnTo>
                  <a:pt x="255" y="288"/>
                </a:lnTo>
                <a:lnTo>
                  <a:pt x="75" y="288"/>
                </a:lnTo>
                <a:lnTo>
                  <a:pt x="75" y="0"/>
                </a:lnTo>
                <a:lnTo>
                  <a:pt x="0" y="5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 flipV="1">
            <a:off x="1136015" y="3934460"/>
            <a:ext cx="3743960" cy="36195"/>
          </a:xfrm>
          <a:custGeom>
            <a:avLst/>
            <a:gdLst/>
            <a:ahLst/>
            <a:cxnLst/>
            <a:rect l="l" t="t" r="r" b="b"/>
            <a:pathLst>
              <a:path w="1179613" h="21889">
                <a:moveTo>
                  <a:pt x="1157786" y="21889"/>
                </a:moveTo>
                <a:lnTo>
                  <a:pt x="1179613" y="0"/>
                </a:lnTo>
                <a:lnTo>
                  <a:pt x="0" y="0"/>
                </a:lnTo>
                <a:lnTo>
                  <a:pt x="21889" y="21889"/>
                </a:lnTo>
                <a:lnTo>
                  <a:pt x="1157786" y="21889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5000"/>
                </a:schemeClr>
              </a:gs>
              <a:gs pos="86000">
                <a:schemeClr val="accent1">
                  <a:alpha val="0"/>
                </a:schemeClr>
              </a:gs>
            </a:gsLst>
            <a:lin ang="2700000"/>
          </a:gra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902335" y="2221230"/>
            <a:ext cx="6242685" cy="164655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The AI Assistant answers study-related questions, summarizes notes, generates quizzes, and explains difficult concepts to enhance understanding.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902335" y="4723765"/>
            <a:ext cx="6242685" cy="164655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The Progress Tracker monitors completed tasks, study hours, generates weekly reports, and displays performance graphs for continuous improvement.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sp>
        <p:nvSpPr>
          <p:cNvPr id="14" name="TextBox 1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AI Assistant and Progress Tracking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in)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165215" y="1731645"/>
            <a:ext cx="0" cy="4116705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3" name="AutoShape 3"/>
          <p:cNvSpPr/>
          <p:nvPr/>
        </p:nvSpPr>
        <p:spPr>
          <a:xfrm>
            <a:off x="660400" y="1731645"/>
            <a:ext cx="4895850" cy="1656715"/>
          </a:xfrm>
          <a:prstGeom prst="roundRect">
            <a:avLst>
              <a:gd name="adj" fmla="val 6867"/>
            </a:avLst>
          </a:prstGeom>
          <a:blipFill rotWithShape="1">
            <a:blip r:embed="rId3"/>
            <a:stretch>
              <a:fillRect l="35" t="-45419" r="-35" b="-46581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2809875" y="3051175"/>
            <a:ext cx="673735" cy="673735"/>
            <a:chOff x="1919536" y="2739155"/>
            <a:chExt cx="504056" cy="504056"/>
          </a:xfrm>
        </p:grpSpPr>
        <p:sp>
          <p:nvSpPr>
            <p:cNvPr id="5" name="AutoShape 5"/>
            <p:cNvSpPr/>
            <p:nvPr/>
          </p:nvSpPr>
          <p:spPr>
            <a:xfrm>
              <a:off x="1919536" y="2739155"/>
              <a:ext cx="504056" cy="504056"/>
            </a:xfrm>
            <a:prstGeom prst="ellipse">
              <a:avLst/>
            </a:prstGeom>
            <a:solidFill>
              <a:srgbClr val="D8B750"/>
            </a:solidFill>
            <a:ln w="25400">
              <a:solidFill>
                <a:srgbClr val="FFFFFF"/>
              </a:solidFill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2043203" y="2868766"/>
              <a:ext cx="256722" cy="244834"/>
            </a:xfrm>
            <a:custGeom>
              <a:avLst/>
              <a:gdLst/>
              <a:ahLst/>
              <a:cxnLst/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lIns="90170" tIns="46990" rIns="90170" bIns="46990" anchor="ctr">
              <a:normAutofit fontScale="92500" lnSpcReduction="10000"/>
            </a:bodyPr>
            <a:lstStyle/>
            <a:p>
              <a:pPr marL="0" algn="ctr"/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6647815" y="1731645"/>
            <a:ext cx="4895850" cy="1656715"/>
          </a:xfrm>
          <a:prstGeom prst="roundRect">
            <a:avLst>
              <a:gd name="adj" fmla="val 6867"/>
            </a:avLst>
          </a:prstGeom>
          <a:blipFill rotWithShape="1">
            <a:blip r:embed="rId4"/>
            <a:stretch>
              <a:fillRect l="347" t="-45419" r="-347" b="-46581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grpSp>
        <p:nvGrpSpPr>
          <p:cNvPr id="8" name="Group 8"/>
          <p:cNvGrpSpPr/>
          <p:nvPr/>
        </p:nvGrpSpPr>
        <p:grpSpPr>
          <a:xfrm>
            <a:off x="8765540" y="3051175"/>
            <a:ext cx="673735" cy="673735"/>
            <a:chOff x="1919536" y="2739155"/>
            <a:chExt cx="504056" cy="504056"/>
          </a:xfrm>
        </p:grpSpPr>
        <p:sp>
          <p:nvSpPr>
            <p:cNvPr id="9" name="AutoShape 9"/>
            <p:cNvSpPr/>
            <p:nvPr/>
          </p:nvSpPr>
          <p:spPr>
            <a:xfrm>
              <a:off x="1919536" y="2739155"/>
              <a:ext cx="504056" cy="504056"/>
            </a:xfrm>
            <a:prstGeom prst="ellipse">
              <a:avLst/>
            </a:prstGeom>
            <a:solidFill>
              <a:srgbClr val="D8B750"/>
            </a:solidFill>
            <a:ln w="25400">
              <a:solidFill>
                <a:srgbClr val="FFFFFF"/>
              </a:solidFill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43203" y="2868766"/>
              <a:ext cx="256722" cy="244834"/>
            </a:xfrm>
            <a:custGeom>
              <a:avLst/>
              <a:gdLst/>
              <a:ahLst/>
              <a:cxnLst/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lIns="90170" tIns="46990" rIns="90170" bIns="46990" anchor="ctr">
              <a:normAutofit fontScale="92500" lnSpcReduction="10000"/>
            </a:bodyPr>
            <a:lstStyle/>
            <a:p>
              <a:pPr marL="0" algn="ctr"/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0400" y="3807460"/>
            <a:ext cx="4895850" cy="508635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Timely Notifications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" y="431546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ln/>
                <a:solidFill>
                  <a:schemeClr val="bg2"/>
                </a:solidFill>
                <a:latin typeface="思源黑体 Normal"/>
                <a:ea typeface="思源黑体 Normal"/>
              </a:rPr>
              <a:t>The Reminder System sends exam reminders, assignment deadlines, break reminders, and revision alerts to keep students organized.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47815" y="3807460"/>
            <a:ext cx="4895850" cy="508635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Notes Manager and Pomodoro Timer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47815" y="431546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The Notes Manager allows PDF uploads, note storage, AI-generated summaries, and keyword search. The Pomodoro Timer supports 25/50-minute study sessions with break tracking.</a:t>
            </a:r>
          </a:p>
        </p:txBody>
      </p:sp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sp>
        <p:nvSpPr>
          <p:cNvPr id="16" name="TextBox 16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Reminder System and Supplementary Tools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horizontal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26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out)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V="1">
            <a:off x="7397677" y="343864"/>
            <a:ext cx="1182986" cy="118298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3" name="Connector 3"/>
          <p:cNvCxnSpPr/>
          <p:nvPr/>
        </p:nvCxnSpPr>
        <p:spPr>
          <a:xfrm flipV="1">
            <a:off x="7451449" y="1283566"/>
            <a:ext cx="582816" cy="58281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4" name="Connector 4"/>
          <p:cNvCxnSpPr/>
          <p:nvPr/>
        </p:nvCxnSpPr>
        <p:spPr>
          <a:xfrm flipV="1">
            <a:off x="3103920" y="5241708"/>
            <a:ext cx="1182986" cy="118298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5" name="Connector 5"/>
          <p:cNvCxnSpPr/>
          <p:nvPr/>
        </p:nvCxnSpPr>
        <p:spPr>
          <a:xfrm flipV="1">
            <a:off x="3236970" y="5342873"/>
            <a:ext cx="582816" cy="58281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sp>
        <p:nvSpPr>
          <p:cNvPr id="6" name="TextBox 6"/>
          <p:cNvSpPr txBox="1"/>
          <p:nvPr/>
        </p:nvSpPr>
        <p:spPr>
          <a:xfrm>
            <a:off x="4037648" y="2112010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5000" b="0" i="0" u="none" baseline="0">
                <a:ln/>
                <a:solidFill>
                  <a:schemeClr val="bg2"/>
                </a:solidFill>
                <a:effectLst/>
                <a:latin typeface="思源黑体 Medium"/>
                <a:ea typeface="思源黑体 Medium"/>
              </a:rPr>
              <a:t>PART   03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2648585" y="3035300"/>
            <a:ext cx="7256145" cy="200850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chemeClr val="bg2"/>
                </a:solidFill>
                <a:latin typeface="思源黑体 Medium"/>
                <a:ea typeface="思源黑体 Medium"/>
              </a:rPr>
              <a:t>Technology Stack and System Architecture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in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6000" y="1341726"/>
            <a:ext cx="5656527" cy="4934385"/>
          </a:xfrm>
          <a:custGeom>
            <a:avLst/>
            <a:gdLst/>
            <a:ahLst/>
            <a:cxnLst/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 lim="800000"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" name="Freeform 3"/>
          <p:cNvSpPr/>
          <p:nvPr/>
        </p:nvSpPr>
        <p:spPr>
          <a:xfrm flipH="1" flipV="1">
            <a:off x="5763864" y="1341726"/>
            <a:ext cx="5656527" cy="4934385"/>
          </a:xfrm>
          <a:custGeom>
            <a:avLst/>
            <a:gdLst/>
            <a:ahLst/>
            <a:cxnLst/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 lim="800000"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51230" y="1636994"/>
            <a:ext cx="864000" cy="828000"/>
          </a:xfrm>
          <a:prstGeom prst="rect">
            <a:avLst/>
          </a:prstGeom>
          <a:noFill/>
        </p:spPr>
        <p:txBody>
          <a:bodyPr vert="horz" wrap="square" lIns="90170" tIns="46990" rIns="90170" bIns="46990" anchor="b">
            <a:normAutofit/>
          </a:bodyPr>
          <a:lstStyle/>
          <a:p>
            <a:pPr marL="0" algn="l">
              <a:spcBef>
                <a:spcPct val="0"/>
              </a:spcBef>
              <a:spcAft>
                <a:spcPct val="0"/>
              </a:spcAft>
            </a:pPr>
            <a:r>
              <a:rPr lang="en-US" sz="3779" b="0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01</a:t>
            </a:r>
          </a:p>
        </p:txBody>
      </p:sp>
      <p:sp>
        <p:nvSpPr>
          <p:cNvPr id="5" name="AutoShape 5"/>
          <p:cNvSpPr/>
          <p:nvPr/>
        </p:nvSpPr>
        <p:spPr>
          <a:xfrm>
            <a:off x="10335836" y="1636994"/>
            <a:ext cx="864000" cy="828000"/>
          </a:xfrm>
          <a:prstGeom prst="rect">
            <a:avLst/>
          </a:prstGeom>
          <a:noFill/>
        </p:spPr>
        <p:txBody>
          <a:bodyPr vert="horz" wrap="square" lIns="90170" tIns="46990" rIns="90170" bIns="46990" anchor="b">
            <a:normAutofit/>
          </a:bodyPr>
          <a:lstStyle/>
          <a:p>
            <a:pPr marL="0" algn="r">
              <a:spcBef>
                <a:spcPct val="0"/>
              </a:spcBef>
              <a:spcAft>
                <a:spcPct val="0"/>
              </a:spcAft>
            </a:pPr>
            <a:r>
              <a:rPr lang="en-US" sz="3779" b="0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1230" y="2531745"/>
            <a:ext cx="4357370" cy="82804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Modern Frontend Framework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6842125" y="2533015"/>
            <a:ext cx="4357370" cy="82804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r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Robust Backend Infrastructure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1230" y="3395980"/>
            <a:ext cx="4356000" cy="238252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 frontend is built using React.js, HTML5, CSS3, Tailwind CSS, and JavaScript for a responsive and interactive user interface.</a:t>
            </a:r>
          </a:p>
        </p:txBody>
      </p:sp>
      <p:sp>
        <p:nvSpPr>
          <p:cNvPr id="9" name="AutoShape 9"/>
          <p:cNvSpPr/>
          <p:nvPr/>
        </p:nvSpPr>
        <p:spPr>
          <a:xfrm>
            <a:off x="6843495" y="3395980"/>
            <a:ext cx="4356000" cy="238252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r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 backend leverages Node.js and Express.js to handle server-side logic, API requests, and seamless data processing.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Frontend and Backend Technologies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sp>
        <p:nvSpPr>
          <p:cNvPr id="12" name="AutoShape 12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4)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-10800000">
            <a:off x="2148695" y="1338360"/>
            <a:ext cx="9000000" cy="2304000"/>
          </a:xfrm>
          <a:prstGeom prst="rect">
            <a:avLst/>
          </a:prstGeom>
          <a:solidFill>
            <a:schemeClr val="bg1"/>
          </a:solidFill>
          <a:ln>
            <a:solidFill>
              <a:srgbClr val="D8B750"/>
            </a:solidFill>
          </a:ln>
        </p:spPr>
        <p:txBody>
          <a:bodyPr vert="horz" lIns="50800" tIns="50800" rIns="50800" bIns="50800" rtlCol="0" anchor="ctr">
            <a:normAutofit/>
          </a:bodyPr>
          <a:lstStyle/>
          <a:p>
            <a:pPr marL="0" indent="0" algn="ctr">
              <a:lnSpc>
                <a:spcPts val="2725"/>
              </a:lnSpc>
              <a:spcBef>
                <a:spcPct val="0"/>
              </a:spcBef>
              <a:defRPr/>
            </a:pP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 rot="-10800000">
            <a:off x="2148695" y="4026950"/>
            <a:ext cx="9000000" cy="2304000"/>
          </a:xfrm>
          <a:prstGeom prst="rect">
            <a:avLst/>
          </a:prstGeom>
          <a:solidFill>
            <a:schemeClr val="bg1"/>
          </a:solidFill>
          <a:ln>
            <a:solidFill>
              <a:srgbClr val="D8B750"/>
            </a:solidFill>
          </a:ln>
        </p:spPr>
        <p:txBody>
          <a:bodyPr vert="horz" lIns="50800" tIns="50800" rIns="50800" bIns="50800" rtlCol="0" anchor="ctr">
            <a:normAutofit/>
          </a:bodyPr>
          <a:lstStyle/>
          <a:p>
            <a:pPr marL="0" indent="0" algn="ctr">
              <a:lnSpc>
                <a:spcPts val="2725"/>
              </a:lnSpc>
              <a:spcBef>
                <a:spcPct val="0"/>
              </a:spcBef>
              <a:defRPr/>
            </a:pP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928370" y="4625865"/>
            <a:ext cx="1106170" cy="1106170"/>
            <a:chOff x="892" y="7111"/>
            <a:chExt cx="1742" cy="1742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" name="Freeform 5"/>
            <p:cNvSpPr/>
            <p:nvPr/>
          </p:nvSpPr>
          <p:spPr>
            <a:xfrm>
              <a:off x="892" y="7111"/>
              <a:ext cx="1742" cy="1742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8B75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83" y="7408"/>
              <a:ext cx="1361" cy="114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rtlCol="0" anchor="ctr" anchorCtr="1">
              <a:normAutofit/>
            </a:bodyPr>
            <a:lstStyle/>
            <a:p>
              <a:pPr marL="0" indent="0" algn="ctr" fontAlgn="auto">
                <a:lnSpc>
                  <a:spcPct val="100000"/>
                </a:lnSpc>
                <a:defRPr/>
              </a:pPr>
              <a:r>
                <a:rPr lang="en-US" sz="3200" b="0" i="0" u="none" baseline="0">
                  <a:solidFill>
                    <a:srgbClr val="FFFFFF"/>
                  </a:solidFill>
                  <a:latin typeface="思源黑体 Normal"/>
                  <a:ea typeface="思源黑体 Normal"/>
                </a:rPr>
                <a:t>02</a:t>
              </a:r>
              <a:endParaRPr lang="en-US" sz="110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328545" y="4767580"/>
            <a:ext cx="8639810" cy="136779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Additional integrations include Calendar API, Notification Service, and Authentication via Firebase, Auth0, or JWT.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2328545" y="4227195"/>
            <a:ext cx="863981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Supporting APIs and Services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2328545" y="2076450"/>
            <a:ext cx="8639810" cy="136779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MongoDB serves as the primary database, while the OpenAI API or other LLMs power AI features. Python is optional for ML models.</a:t>
            </a:r>
            <a:endParaRPr lang="en-US" sz="1100"/>
          </a:p>
        </p:txBody>
      </p:sp>
      <p:grpSp>
        <p:nvGrpSpPr>
          <p:cNvPr id="10" name="Group 10"/>
          <p:cNvGrpSpPr/>
          <p:nvPr/>
        </p:nvGrpSpPr>
        <p:grpSpPr>
          <a:xfrm>
            <a:off x="928370" y="1937275"/>
            <a:ext cx="1106170" cy="1106170"/>
            <a:chOff x="1237" y="3051"/>
            <a:chExt cx="1742" cy="1742"/>
          </a:xfrm>
        </p:grpSpPr>
        <p:sp>
          <p:nvSpPr>
            <p:cNvPr id="11" name="Freeform 11"/>
            <p:cNvSpPr/>
            <p:nvPr/>
          </p:nvSpPr>
          <p:spPr>
            <a:xfrm>
              <a:off x="1237" y="3051"/>
              <a:ext cx="1742" cy="1742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8B75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28" y="3348"/>
              <a:ext cx="1361" cy="114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rtlCol="0" anchor="ctr" anchorCtr="1">
              <a:normAutofit/>
            </a:bodyPr>
            <a:lstStyle/>
            <a:p>
              <a:pPr marL="0" indent="0" algn="ctr" fontAlgn="auto">
                <a:lnSpc>
                  <a:spcPct val="100000"/>
                </a:lnSpc>
                <a:defRPr/>
              </a:pPr>
              <a:r>
                <a:rPr lang="en-US" sz="3200" b="0" i="0" u="none" baseline="0">
                  <a:solidFill>
                    <a:srgbClr val="FFFFFF"/>
                  </a:solidFill>
                  <a:latin typeface="思源黑体 Normal"/>
                  <a:ea typeface="思源黑体 Normal"/>
                </a:rPr>
                <a:t>01</a:t>
              </a:r>
              <a:endParaRPr lang="en-US" sz="11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328545" y="1536700"/>
            <a:ext cx="863981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Data Storage and AI Capabilities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Database, AI Integration, and Additional Services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sp>
        <p:nvSpPr>
          <p:cNvPr id="16" name="AutoShape 16"/>
          <p:cNvSpPr/>
          <p:nvPr/>
        </p:nvSpPr>
        <p:spPr>
          <a:xfrm>
            <a:off x="11811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down)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out)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65.jpeg"/>
          <p:cNvPicPr>
            <a:picLocks noChangeAspect="1"/>
          </p:cNvPicPr>
          <p:nvPr/>
        </p:nvPicPr>
        <p:blipFill rotWithShape="1">
          <a:blip r:embed="rId3"/>
          <a:srcRect l="7158" r="7158"/>
          <a:stretch>
            <a:fillRect/>
          </a:stretch>
        </p:blipFill>
        <p:spPr>
          <a:xfrm>
            <a:off x="695325" y="1805552"/>
            <a:ext cx="5344505" cy="4161294"/>
          </a:xfrm>
          <a:custGeom>
            <a:avLst/>
            <a:gdLst/>
            <a:ahLst/>
            <a:cxnLst/>
            <a:rect l="0" t="0" r="0" b="0"/>
            <a:pathLst>
              <a:path w="5198414" h="3959816">
                <a:moveTo>
                  <a:pt x="0" y="0"/>
                </a:moveTo>
                <a:lnTo>
                  <a:pt x="5198414" y="0"/>
                </a:lnTo>
                <a:lnTo>
                  <a:pt x="5198414" y="3959816"/>
                </a:lnTo>
                <a:lnTo>
                  <a:pt x="0" y="3959816"/>
                </a:lnTo>
                <a:close/>
              </a:path>
            </a:pathLst>
          </a:custGeom>
          <a:ln w="9525" cap="flat" cmpd="sng">
            <a:solidFill>
              <a:schemeClr val="dk1">
                <a:alpha val="5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6152168" y="1805552"/>
            <a:ext cx="5343831" cy="4161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6304404" y="2179319"/>
            <a:ext cx="5039360" cy="3413760"/>
            <a:chOff x="1805" y="3251"/>
            <a:chExt cx="7936" cy="5376"/>
          </a:xfrm>
        </p:grpSpPr>
        <p:sp>
          <p:nvSpPr>
            <p:cNvPr id="5" name="TextBox 5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The architecture follows a clear flow: Student → React Frontend → Node.js Backend → MongoDB Database → AI Engine → Calendar and Notification Services.</a:t>
              </a:r>
              <a:endParaRPr lang="en-US" sz="110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D8B750"/>
                  </a:solidFill>
                  <a:latin typeface="思源黑体 Normal"/>
                  <a:ea typeface="思源黑体 Normal"/>
                </a:rPr>
                <a:t>End-to-End Data Flow</a:t>
              </a:r>
              <a:endParaRPr lang="en-US" sz="1100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System Architecture Flow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8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out)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V="1">
            <a:off x="7397677" y="343864"/>
            <a:ext cx="1182986" cy="118298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3" name="Connector 3"/>
          <p:cNvCxnSpPr/>
          <p:nvPr/>
        </p:nvCxnSpPr>
        <p:spPr>
          <a:xfrm flipV="1">
            <a:off x="7451449" y="1283566"/>
            <a:ext cx="582816" cy="58281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4" name="Connector 4"/>
          <p:cNvCxnSpPr/>
          <p:nvPr/>
        </p:nvCxnSpPr>
        <p:spPr>
          <a:xfrm flipV="1">
            <a:off x="3103920" y="5241708"/>
            <a:ext cx="1182986" cy="118298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5" name="Connector 5"/>
          <p:cNvCxnSpPr/>
          <p:nvPr/>
        </p:nvCxnSpPr>
        <p:spPr>
          <a:xfrm flipV="1">
            <a:off x="3236970" y="5342873"/>
            <a:ext cx="582816" cy="58281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sp>
        <p:nvSpPr>
          <p:cNvPr id="6" name="TextBox 6"/>
          <p:cNvSpPr txBox="1"/>
          <p:nvPr/>
        </p:nvSpPr>
        <p:spPr>
          <a:xfrm>
            <a:off x="4037648" y="2112010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5000" b="0" i="0" u="none" baseline="0">
                <a:ln/>
                <a:solidFill>
                  <a:schemeClr val="bg2"/>
                </a:solidFill>
                <a:effectLst/>
                <a:latin typeface="思源黑体 Medium"/>
                <a:ea typeface="思源黑体 Medium"/>
              </a:rPr>
              <a:t>PART   04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2648585" y="3035300"/>
            <a:ext cx="7256145" cy="200850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chemeClr val="bg2"/>
                </a:solidFill>
                <a:latin typeface="思源黑体 Medium"/>
                <a:ea typeface="思源黑体 Medium"/>
              </a:rPr>
              <a:t>Database Design and API Structure</a:t>
            </a:r>
            <a:endParaRPr lang="en-US" sz="110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77000" y="2165985"/>
            <a:ext cx="5346065" cy="3856990"/>
          </a:xfrm>
          <a:prstGeom prst="roundRect">
            <a:avLst>
              <a:gd name="adj" fmla="val 3764"/>
            </a:avLst>
          </a:prstGeom>
          <a:solidFill>
            <a:schemeClr val="bg1">
              <a:alpha val="80000"/>
            </a:schemeClr>
          </a:solidFill>
          <a:ln>
            <a:noFill/>
          </a:ln>
          <a:effectLst>
            <a:outerShdw blurRad="254000" dist="25400" dir="2700000" algn="tl" rotWithShape="0">
              <a:schemeClr val="tx1">
                <a:alpha val="20000"/>
                <a:lumMod val="50000"/>
                <a:lumOff val="50000"/>
              </a:schemeClr>
            </a:outerShdw>
          </a:effectLst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277610" y="1886585"/>
            <a:ext cx="5346065" cy="3856990"/>
          </a:xfrm>
          <a:prstGeom prst="roundRect">
            <a:avLst>
              <a:gd name="adj" fmla="val 3764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254000" dist="25400" dir="2700000" algn="tl" rotWithShape="0">
              <a:schemeClr val="tx1">
                <a:alpha val="20000"/>
                <a:lumMod val="50000"/>
                <a:lumOff val="50000"/>
              </a:schemeClr>
            </a:outerShdw>
          </a:effectLst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068695" y="1607185"/>
            <a:ext cx="5346065" cy="3856990"/>
          </a:xfrm>
          <a:prstGeom prst="roundRect">
            <a:avLst>
              <a:gd name="adj" fmla="val 3764"/>
            </a:avLst>
          </a:prstGeom>
          <a:solidFill>
            <a:schemeClr val="bg1"/>
          </a:solidFill>
          <a:ln>
            <a:noFill/>
          </a:ln>
          <a:effectLst>
            <a:outerShdw blurRad="254000" dist="25400" dir="2700000" algn="tl" rotWithShape="0">
              <a:schemeClr val="tx1">
                <a:alpha val="20000"/>
                <a:lumMod val="50000"/>
                <a:lumOff val="50000"/>
              </a:schemeClr>
            </a:outerShdw>
          </a:effectLst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pic>
        <p:nvPicPr>
          <p:cNvPr id="5" name="image73.jpeg"/>
          <p:cNvPicPr>
            <a:picLocks noChangeAspect="1"/>
          </p:cNvPicPr>
          <p:nvPr/>
        </p:nvPicPr>
        <p:blipFill>
          <a:blip r:embed="rId3"/>
          <a:srcRect l="1754" r="1754"/>
          <a:stretch>
            <a:fillRect/>
          </a:stretch>
        </p:blipFill>
        <p:spPr>
          <a:xfrm>
            <a:off x="6386195" y="1956435"/>
            <a:ext cx="4711700" cy="3257550"/>
          </a:xfrm>
          <a:custGeom>
            <a:avLst/>
            <a:gdLst/>
            <a:ahLst/>
            <a:cxnLst/>
            <a:rect l="0" t="0" r="0" b="0"/>
            <a:pathLst>
              <a:path w="7420" h="3602">
                <a:moveTo>
                  <a:pt x="136" y="0"/>
                </a:moveTo>
                <a:lnTo>
                  <a:pt x="7284" y="0"/>
                </a:lnTo>
                <a:cubicBezTo>
                  <a:pt x="7359" y="0"/>
                  <a:pt x="7420" y="61"/>
                  <a:pt x="7420" y="136"/>
                </a:cubicBezTo>
                <a:lnTo>
                  <a:pt x="7420" y="3466"/>
                </a:lnTo>
                <a:cubicBezTo>
                  <a:pt x="7420" y="3541"/>
                  <a:pt x="7359" y="3602"/>
                  <a:pt x="7284" y="3602"/>
                </a:cubicBezTo>
                <a:lnTo>
                  <a:pt x="136" y="3602"/>
                </a:lnTo>
                <a:cubicBezTo>
                  <a:pt x="61" y="3602"/>
                  <a:pt x="0" y="3541"/>
                  <a:pt x="0" y="3466"/>
                </a:cubicBezTo>
                <a:lnTo>
                  <a:pt x="0" y="136"/>
                </a:lnTo>
                <a:cubicBezTo>
                  <a:pt x="0" y="61"/>
                  <a:pt x="61" y="0"/>
                  <a:pt x="136" y="0"/>
                </a:cubicBezTo>
                <a:close/>
              </a:path>
            </a:pathLst>
          </a:cu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grpSp>
        <p:nvGrpSpPr>
          <p:cNvPr id="6" name="Group 6"/>
          <p:cNvGrpSpPr/>
          <p:nvPr/>
        </p:nvGrpSpPr>
        <p:grpSpPr>
          <a:xfrm>
            <a:off x="685165" y="1878330"/>
            <a:ext cx="5039360" cy="3413760"/>
            <a:chOff x="1805" y="3251"/>
            <a:chExt cx="7936" cy="5376"/>
          </a:xfrm>
        </p:grpSpPr>
        <p:sp>
          <p:nvSpPr>
            <p:cNvPr id="7" name="TextBox 7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chemeClr val="bg2"/>
                  </a:solidFill>
                  <a:latin typeface="思源黑体 Normal"/>
                  <a:ea typeface="思源黑体 Normal"/>
                </a:rPr>
                <a:t>The database includes collections for Users, Subjects, Study Tasks, and Progress, each with specific fields to store relevant information.</a:t>
              </a:r>
              <a:endParaRPr lang="en-US" sz="11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D8B750"/>
                  </a:solidFill>
                  <a:latin typeface="思源黑体 Normal"/>
                  <a:ea typeface="思源黑体 Normal"/>
                </a:rPr>
                <a:t>Core Data Collections</a:t>
              </a:r>
              <a:endParaRPr lang="en-US" sz="1100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sp>
        <p:nvSpPr>
          <p:cNvPr id="10" name="TextBox 10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Database Schema Overview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Vertic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4000" y="25400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lstStyle/>
          <a:p>
            <a:pPr marL="0" indent="0" algn="l"/>
            <a:r>
              <a:rPr lang="en-US" sz="4500" b="1" i="0" u="none" spc="-137" baseline="0">
                <a:solidFill>
                  <a:srgbClr val="D8B750"/>
                </a:solidFill>
                <a:latin typeface="思源黑体 Medium"/>
                <a:ea typeface="思源黑体 Medium"/>
              </a:rPr>
              <a:t>Database Schema Overview</a:t>
            </a:r>
          </a:p>
        </p:txBody>
      </p:sp>
      <p:sp>
        <p:nvSpPr>
          <p:cNvPr id="3" name="AutoShape 3"/>
          <p:cNvSpPr/>
          <p:nvPr/>
        </p:nvSpPr>
        <p:spPr>
          <a:xfrm>
            <a:off x="254000" y="96774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lstStyle/>
          <a:p>
            <a:pPr marL="0" indent="0" algn="l"/>
            <a:r>
              <a:rPr lang="en-US" sz="2600" b="1" i="0" u="none" spc="-82" baseline="0">
                <a:solidFill>
                  <a:srgbClr val="D8B750"/>
                </a:solidFill>
                <a:latin typeface="思源黑体 Medium"/>
                <a:ea typeface="思源黑体 Medium"/>
              </a:rPr>
              <a:t>Users and Subjects Schema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914400" y="1808480"/>
          <a:ext cx="10363200" cy="3886200"/>
        </p:xfrm>
        <a:graphic>
          <a:graphicData uri="http://schemas.openxmlformats.org/drawingml/2006/table">
            <a:tbl>
              <a:tblPr/>
              <a:tblGrid>
                <a:gridCol w="6380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2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1" i="0" u="none" baseline="0">
                          <a:solidFill>
                            <a:srgbClr val="FFFFFF"/>
                          </a:solidFill>
                          <a:latin typeface="思源黑体 Medium"/>
                          <a:ea typeface="思源黑体 Medium"/>
                        </a:rPr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1" i="0" u="none" baseline="0">
                          <a:solidFill>
                            <a:srgbClr val="FFFFFF"/>
                          </a:solidFill>
                          <a:latin typeface="思源黑体 Medium"/>
                          <a:ea typeface="思源黑体 Medium"/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Goals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Subject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Difficulty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4000" y="25400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lstStyle/>
          <a:p>
            <a:pPr marL="0" indent="0" algn="l"/>
            <a:r>
              <a:rPr lang="en-US" sz="4500" b="1" i="0" u="none" spc="-137" baseline="0">
                <a:solidFill>
                  <a:srgbClr val="D8B750"/>
                </a:solidFill>
                <a:latin typeface="思源黑体 Medium"/>
                <a:ea typeface="思源黑体 Medium"/>
              </a:rPr>
              <a:t>Database Schema Overview</a:t>
            </a:r>
          </a:p>
        </p:txBody>
      </p:sp>
      <p:sp>
        <p:nvSpPr>
          <p:cNvPr id="3" name="AutoShape 3"/>
          <p:cNvSpPr/>
          <p:nvPr/>
        </p:nvSpPr>
        <p:spPr>
          <a:xfrm>
            <a:off x="254000" y="96774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lstStyle/>
          <a:p>
            <a:pPr marL="0" indent="0" algn="l"/>
            <a:r>
              <a:rPr lang="en-US" sz="2600" b="1" i="0" u="none" spc="-82" baseline="0">
                <a:solidFill>
                  <a:srgbClr val="D8B750"/>
                </a:solidFill>
                <a:latin typeface="思源黑体 Medium"/>
                <a:ea typeface="思源黑体 Medium"/>
              </a:rPr>
              <a:t>Study Tasks and Progress Schema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914400" y="1808480"/>
          <a:ext cx="10363200" cy="3454400"/>
        </p:xfrm>
        <a:graphic>
          <a:graphicData uri="http://schemas.openxmlformats.org/drawingml/2006/table">
            <a:tbl>
              <a:tblPr/>
              <a:tblGrid>
                <a:gridCol w="4917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5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1" i="0" u="none" baseline="0">
                          <a:solidFill>
                            <a:srgbClr val="FFFFFF"/>
                          </a:solidFill>
                          <a:latin typeface="思源黑体 Medium"/>
                          <a:ea typeface="思源黑体 Medium"/>
                        </a:rPr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1" i="0" u="none" baseline="0">
                          <a:solidFill>
                            <a:srgbClr val="FFFFFF"/>
                          </a:solidFill>
                          <a:latin typeface="思源黑体 Medium"/>
                          <a:ea typeface="思源黑体 Medium"/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Task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Deadline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Duration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Pending/Completed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Study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Completed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Quiz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思源黑体 Medium"/>
                          <a:ea typeface="思源黑体 Medium"/>
                        </a:rPr>
                        <a:t>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7.jpeg"/>
          <p:cNvPicPr>
            <a:picLocks noChangeAspect="1"/>
          </p:cNvPicPr>
          <p:nvPr/>
        </p:nvPicPr>
        <p:blipFill rotWithShape="1">
          <a:blip r:embed="rId3"/>
          <a:srcRect t="15376" b="15376"/>
          <a:stretch>
            <a:fillRect/>
          </a:stretch>
        </p:blipFill>
        <p:spPr>
          <a:xfrm>
            <a:off x="838200" y="4048125"/>
            <a:ext cx="4319905" cy="1993900"/>
          </a:xfrm>
          <a:custGeom>
            <a:avLst/>
            <a:gdLst/>
            <a:ahLst/>
            <a:cxnLst/>
            <a:rect l="0" t="0" r="0" b="0"/>
            <a:pathLst>
              <a:path w="4258967" h="1965412">
                <a:moveTo>
                  <a:pt x="0" y="0"/>
                </a:moveTo>
                <a:lnTo>
                  <a:pt x="4258967" y="0"/>
                </a:lnTo>
                <a:lnTo>
                  <a:pt x="4258967" y="1965412"/>
                </a:lnTo>
                <a:lnTo>
                  <a:pt x="0" y="1965412"/>
                </a:lnTo>
                <a:close/>
              </a:path>
            </a:pathLst>
          </a:cu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3" name="image17.jpeg"/>
          <p:cNvPicPr>
            <a:picLocks noChangeAspect="1"/>
          </p:cNvPicPr>
          <p:nvPr/>
        </p:nvPicPr>
        <p:blipFill rotWithShape="1">
          <a:blip r:embed="rId4"/>
          <a:srcRect t="15384" b="15384"/>
          <a:stretch>
            <a:fillRect/>
          </a:stretch>
        </p:blipFill>
        <p:spPr>
          <a:xfrm>
            <a:off x="838201" y="1633220"/>
            <a:ext cx="4320000" cy="1993577"/>
          </a:xfrm>
          <a:custGeom>
            <a:avLst/>
            <a:gdLst/>
            <a:ahLst/>
            <a:cxnLst/>
            <a:rect l="0" t="0" r="0" b="0"/>
            <a:pathLst>
              <a:path w="4258967" h="1965412">
                <a:moveTo>
                  <a:pt x="0" y="0"/>
                </a:moveTo>
                <a:lnTo>
                  <a:pt x="4258967" y="0"/>
                </a:lnTo>
                <a:lnTo>
                  <a:pt x="4258967" y="1965412"/>
                </a:lnTo>
                <a:lnTo>
                  <a:pt x="0" y="1965412"/>
                </a:lnTo>
                <a:close/>
              </a:path>
            </a:pathLst>
          </a:cu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4" name="TextBox 4"/>
          <p:cNvSpPr txBox="1"/>
          <p:nvPr/>
        </p:nvSpPr>
        <p:spPr>
          <a:xfrm>
            <a:off x="5739130" y="1586865"/>
            <a:ext cx="5689600" cy="4318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Authentication and Planning APIs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39130" y="2032312"/>
            <a:ext cx="5689600" cy="154813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The backend provides POST /signup, POST /login, POST /create-plan, and GET /study-plan endpoints for user management and plan generation.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39130" y="4048125"/>
            <a:ext cx="5689600" cy="4318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AI and Progress APIs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39130" y="4493895"/>
            <a:ext cx="5689600" cy="154813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Additional endpoints include POST /generate-summary, POST /generate-quiz, GET /progress, and POST /update-progress for AI features and tracking.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Backend API Endpoints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V="1">
            <a:off x="7397677" y="343864"/>
            <a:ext cx="1182986" cy="118298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3" name="Connector 3"/>
          <p:cNvCxnSpPr/>
          <p:nvPr/>
        </p:nvCxnSpPr>
        <p:spPr>
          <a:xfrm flipV="1">
            <a:off x="7451449" y="1283566"/>
            <a:ext cx="582816" cy="58281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4" name="Connector 4"/>
          <p:cNvCxnSpPr/>
          <p:nvPr/>
        </p:nvCxnSpPr>
        <p:spPr>
          <a:xfrm flipV="1">
            <a:off x="3103920" y="5241708"/>
            <a:ext cx="1182986" cy="118298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5" name="Connector 5"/>
          <p:cNvCxnSpPr/>
          <p:nvPr/>
        </p:nvCxnSpPr>
        <p:spPr>
          <a:xfrm flipV="1">
            <a:off x="3236970" y="5342873"/>
            <a:ext cx="582816" cy="58281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sp>
        <p:nvSpPr>
          <p:cNvPr id="6" name="TextBox 6"/>
          <p:cNvSpPr txBox="1"/>
          <p:nvPr/>
        </p:nvSpPr>
        <p:spPr>
          <a:xfrm>
            <a:off x="4037648" y="2112010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5000" b="0" i="0" u="none" baseline="0">
                <a:ln/>
                <a:solidFill>
                  <a:schemeClr val="bg2"/>
                </a:solidFill>
                <a:effectLst/>
                <a:latin typeface="思源黑体 Medium"/>
                <a:ea typeface="思源黑体 Medium"/>
              </a:rPr>
              <a:t>PART   05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2648585" y="3035300"/>
            <a:ext cx="7256145" cy="200850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chemeClr val="bg2"/>
                </a:solidFill>
                <a:latin typeface="思源黑体 Medium"/>
                <a:ea typeface="思源黑体 Medium"/>
              </a:rPr>
              <a:t>User Interface and Workflow Design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47790" y="1684655"/>
            <a:ext cx="5207000" cy="2124000"/>
          </a:xfrm>
          <a:prstGeom prst="roundRect">
            <a:avLst>
              <a:gd name="adj" fmla="val 8000"/>
            </a:avLst>
          </a:prstGeom>
          <a:blipFill rotWithShape="1">
            <a:blip r:embed="rId3"/>
            <a:srcRect/>
            <a:stretch>
              <a:fillRect t="-32871" b="-32476"/>
            </a:stretch>
          </a:blipFill>
          <a:ln cap="flat" cmpd="sng">
            <a:noFill/>
            <a:prstDash val="solid"/>
            <a:miter lim="800000"/>
          </a:ln>
          <a:effectLst>
            <a:outerShdw blurRad="127000" dist="63500" dir="5400000" algn="t" rotWithShape="0">
              <a:schemeClr val="tx2">
                <a:alpha val="20000"/>
              </a:schemeClr>
            </a:outerShdw>
          </a:effectLst>
        </p:spPr>
        <p:txBody>
          <a:bodyPr rot="0"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81050" y="2128085"/>
            <a:ext cx="5435600" cy="16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The frontend includes Home, Login &amp; Signup, Dashboard, Planner, AI Assistant, and Progress pages for comprehensive user interaction.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1050" y="1684655"/>
            <a:ext cx="543560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Core Application Pages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447790" y="3953375"/>
            <a:ext cx="5207000" cy="2124000"/>
          </a:xfrm>
          <a:prstGeom prst="roundRect">
            <a:avLst>
              <a:gd name="adj" fmla="val 8000"/>
            </a:avLst>
          </a:prstGeom>
          <a:blipFill>
            <a:blip r:embed="rId4"/>
            <a:srcRect/>
            <a:stretch>
              <a:fillRect t="-33066" b="-32669"/>
            </a:stretch>
          </a:blipFill>
          <a:ln cap="flat" cmpd="sng">
            <a:noFill/>
            <a:prstDash val="solid"/>
            <a:miter lim="800000"/>
          </a:ln>
          <a:effectLst>
            <a:outerShdw blurRad="127000" dist="63500" dir="5400000" algn="t" rotWithShape="0">
              <a:schemeClr val="tx2">
                <a:alpha val="20000"/>
              </a:schemeClr>
            </a:outerShdw>
          </a:effectLst>
        </p:spPr>
        <p:txBody>
          <a:bodyPr rot="0"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81050" y="4385375"/>
            <a:ext cx="5435600" cy="16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The Planner allows input for subjects, available study hours, exam dates, and difficulty levels. The AI Assistant provides a chat interface, note summarizer, and quiz generator.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1050" y="3953375"/>
            <a:ext cx="543560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Planner and AI Assistant Interface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Frontend Pages Overview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sp>
        <p:nvSpPr>
          <p:cNvPr id="10" name="AutoShape 1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4)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.jpeg"/>
          <p:cNvPicPr>
            <a:picLocks noChangeAspect="1"/>
          </p:cNvPicPr>
          <p:nvPr/>
        </p:nvPicPr>
        <p:blipFill>
          <a:blip r:embed="rId3"/>
          <a:srcRect l="25009" r="25009"/>
          <a:stretch>
            <a:fillRect/>
          </a:stretch>
        </p:blipFill>
        <p:spPr>
          <a:xfrm>
            <a:off x="7330849" y="1377981"/>
            <a:ext cx="3780000" cy="5040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AI and User Workflow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grpSp>
        <p:nvGrpSpPr>
          <p:cNvPr id="5" name="Group 5"/>
          <p:cNvGrpSpPr/>
          <p:nvPr/>
        </p:nvGrpSpPr>
        <p:grpSpPr>
          <a:xfrm>
            <a:off x="685165" y="1434816"/>
            <a:ext cx="6076950" cy="4888230"/>
            <a:chOff x="1079" y="2205"/>
            <a:chExt cx="9570" cy="7698"/>
          </a:xfrm>
        </p:grpSpPr>
        <p:grpSp>
          <p:nvGrpSpPr>
            <p:cNvPr id="6" name="Group 6"/>
            <p:cNvGrpSpPr/>
            <p:nvPr/>
          </p:nvGrpSpPr>
          <p:grpSpPr>
            <a:xfrm>
              <a:off x="1079" y="6223"/>
              <a:ext cx="9524" cy="3681"/>
              <a:chOff x="1079" y="6223"/>
              <a:chExt cx="9524" cy="3681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079" y="7070"/>
                <a:ext cx="9524" cy="2835"/>
              </a:xfrm>
              <a:prstGeom prst="rect">
                <a:avLst/>
              </a:prstGeom>
            </p:spPr>
            <p:txBody>
              <a:bodyPr vert="horz" wrap="square" lIns="90170" tIns="46990" rIns="90170" bIns="46990" rtlCol="0" anchor="t">
                <a:normAutofit/>
              </a:bodyPr>
              <a:lstStyle/>
              <a:p>
                <a:pPr marL="0" indent="0" algn="just" fontAlgn="auto">
                  <a:lnSpc>
                    <a:spcPct val="150000"/>
                  </a:lnSpc>
                  <a:defRPr/>
                </a:pPr>
                <a:r>
                  <a:rPr lang="en-US" sz="1500" b="0" i="0" u="none" baseline="0">
                    <a:solidFill>
                      <a:schemeClr val="bg2"/>
                    </a:solidFill>
                    <a:latin typeface="思源黑体 Normal"/>
                    <a:ea typeface="思源黑体 Normal"/>
                  </a:rPr>
                  <a:t>Users login, enter subjects and exam dates, choose daily study hours, click generate plan, and the AI creates a timetable while tracking progress.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79" y="6223"/>
                <a:ext cx="9524" cy="850"/>
              </a:xfrm>
              <a:prstGeom prst="rect">
                <a:avLst/>
              </a:prstGeom>
              <a:noFill/>
            </p:spPr>
            <p:txBody>
              <a:bodyPr vert="horz" wrap="square" lIns="90170" tIns="46990" rIns="90170" bIns="46990" rtlCol="0" anchor="ctr">
                <a:normAutofit/>
              </a:bodyPr>
              <a:lstStyle/>
              <a:p>
                <a:pPr marL="0" indent="0" algn="l" fontAlgn="auto">
                  <a:lnSpc>
                    <a:spcPct val="100000"/>
                  </a:lnSpc>
                  <a:defRPr/>
                </a:pPr>
                <a:r>
                  <a:rPr lang="en-US" sz="2000" b="1" i="0" u="none" baseline="0">
                    <a:solidFill>
                      <a:srgbClr val="D8B750"/>
                    </a:solidFill>
                    <a:latin typeface="思源黑体 Normal"/>
                    <a:ea typeface="思源黑体 Normal"/>
                  </a:rPr>
                  <a:t>User Interaction Flow</a:t>
                </a:r>
                <a:endParaRPr lang="en-US" sz="1100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125" y="3055"/>
              <a:ext cx="9524" cy="2835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500" b="0" i="0" u="none" baseline="0">
                  <a:solidFill>
                    <a:schemeClr val="bg2"/>
                  </a:solidFill>
                  <a:latin typeface="思源黑体 Normal"/>
                  <a:ea typeface="思源黑体 Normal"/>
                </a:rPr>
                <a:t>The AI workflow processes student input including study hours and subjects, performs AI analysis, calculates priorities, and generates a personalized timetable.</a:t>
              </a:r>
              <a:endParaRPr lang="en-US" sz="11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" y="2205"/>
              <a:ext cx="9524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00000"/>
                </a:lnSpc>
                <a:defRPr/>
              </a:pPr>
              <a:r>
                <a:rPr lang="en-US" sz="2000" b="1" i="0" u="none" baseline="0">
                  <a:solidFill>
                    <a:srgbClr val="D8B750"/>
                  </a:solidFill>
                  <a:latin typeface="思源黑体 Normal"/>
                  <a:ea typeface="思源黑体 Normal"/>
                </a:rPr>
                <a:t>AI-Driven Plan Generation</a:t>
              </a:r>
              <a:endParaRPr lang="en-US" sz="1100"/>
            </a:p>
          </p:txBody>
        </p:sp>
      </p:grpSp>
      <p:sp>
        <p:nvSpPr>
          <p:cNvPr id="11" name="AutoShape 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V="1">
            <a:off x="7397677" y="343864"/>
            <a:ext cx="1182986" cy="118298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3" name="Connector 3"/>
          <p:cNvCxnSpPr/>
          <p:nvPr/>
        </p:nvCxnSpPr>
        <p:spPr>
          <a:xfrm flipV="1">
            <a:off x="7451449" y="1283566"/>
            <a:ext cx="582816" cy="58281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4" name="Connector 4"/>
          <p:cNvCxnSpPr/>
          <p:nvPr/>
        </p:nvCxnSpPr>
        <p:spPr>
          <a:xfrm flipV="1">
            <a:off x="3103920" y="5241708"/>
            <a:ext cx="1182986" cy="118298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5" name="Connector 5"/>
          <p:cNvCxnSpPr/>
          <p:nvPr/>
        </p:nvCxnSpPr>
        <p:spPr>
          <a:xfrm flipV="1">
            <a:off x="3236970" y="5342873"/>
            <a:ext cx="582816" cy="58281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sp>
        <p:nvSpPr>
          <p:cNvPr id="6" name="TextBox 6"/>
          <p:cNvSpPr txBox="1"/>
          <p:nvPr/>
        </p:nvSpPr>
        <p:spPr>
          <a:xfrm>
            <a:off x="4037648" y="2112010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5000" b="0" i="0" u="none" baseline="0">
                <a:ln/>
                <a:solidFill>
                  <a:schemeClr val="bg2"/>
                </a:solidFill>
                <a:effectLst/>
                <a:latin typeface="思源黑体 Medium"/>
                <a:ea typeface="思源黑体 Medium"/>
              </a:rPr>
              <a:t>PART   06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2648585" y="3035300"/>
            <a:ext cx="7256145" cy="200850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chemeClr val="bg2"/>
                </a:solidFill>
                <a:latin typeface="思源黑体 Medium"/>
                <a:ea typeface="思源黑体 Medium"/>
              </a:rPr>
              <a:t>Development Roadmap and Deployment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out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0" y="5807395"/>
            <a:ext cx="12192000" cy="0"/>
          </a:xfrm>
          <a:prstGeom prst="line">
            <a:avLst/>
          </a:prstGeom>
          <a:ln w="12700">
            <a:solidFill>
              <a:schemeClr val="tx1">
                <a:alpha val="40000"/>
                <a:lumMod val="50000"/>
                <a:lumOff val="50000"/>
              </a:schemeClr>
            </a:solidFill>
          </a:ln>
        </p:spPr>
      </p:cxnSp>
      <p:cxnSp>
        <p:nvCxnSpPr>
          <p:cNvPr id="3" name="Connector 3"/>
          <p:cNvCxnSpPr/>
          <p:nvPr/>
        </p:nvCxnSpPr>
        <p:spPr>
          <a:xfrm flipH="1" flipV="1">
            <a:off x="5385371" y="3200400"/>
            <a:ext cx="1" cy="2546316"/>
          </a:xfrm>
          <a:prstGeom prst="line">
            <a:avLst/>
          </a:prstGeom>
          <a:ln w="12700">
            <a:solidFill>
              <a:schemeClr val="tx1">
                <a:alpha val="40000"/>
                <a:lumMod val="50000"/>
                <a:lumOff val="50000"/>
              </a:schemeClr>
            </a:solidFill>
          </a:ln>
        </p:spPr>
      </p:cxnSp>
      <p:sp>
        <p:nvSpPr>
          <p:cNvPr id="4" name="AutoShape 4"/>
          <p:cNvSpPr/>
          <p:nvPr/>
        </p:nvSpPr>
        <p:spPr>
          <a:xfrm>
            <a:off x="5324692" y="5746716"/>
            <a:ext cx="121359" cy="12135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70255" y="2823210"/>
            <a:ext cx="4953635" cy="46863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18900000"/>
          </a:gradFill>
          <a:ln>
            <a:noFill/>
          </a:ln>
        </p:spPr>
        <p:txBody>
          <a:bodyPr vert="horz" lIns="144000" tIns="45720" rIns="91440" bIns="45720" anchor="ctr"/>
          <a:lstStyle/>
          <a:p>
            <a:pPr marL="0" algn="l"/>
            <a:r>
              <a:rPr lang="en-US" sz="2000" b="1" i="0" u="none" spc="100" baseline="0">
                <a:solidFill>
                  <a:schemeClr val="lt1"/>
                </a:solidFill>
                <a:latin typeface="思源黑体 Normal"/>
                <a:ea typeface="思源黑体 Normal"/>
              </a:rPr>
              <a:t>Week 1-2: Foundation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5385371" y="3292034"/>
            <a:ext cx="342035" cy="149362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cxnSp>
        <p:nvCxnSpPr>
          <p:cNvPr id="7" name="Connector 7"/>
          <p:cNvCxnSpPr/>
          <p:nvPr/>
        </p:nvCxnSpPr>
        <p:spPr>
          <a:xfrm flipH="1" flipV="1">
            <a:off x="10528866" y="2276475"/>
            <a:ext cx="1" cy="3470241"/>
          </a:xfrm>
          <a:prstGeom prst="line">
            <a:avLst/>
          </a:prstGeom>
          <a:ln w="12700">
            <a:solidFill>
              <a:schemeClr val="tx1">
                <a:alpha val="40000"/>
                <a:lumMod val="50000"/>
                <a:lumOff val="50000"/>
              </a:schemeClr>
            </a:solidFill>
          </a:ln>
        </p:spPr>
      </p:cxnSp>
      <p:sp>
        <p:nvSpPr>
          <p:cNvPr id="8" name="AutoShape 8"/>
          <p:cNvSpPr/>
          <p:nvPr/>
        </p:nvSpPr>
        <p:spPr>
          <a:xfrm flipV="1">
            <a:off x="10535688" y="2354858"/>
            <a:ext cx="342035" cy="149362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468187" y="5746716"/>
            <a:ext cx="121359" cy="12135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906135" y="1885950"/>
            <a:ext cx="4953635" cy="46863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18900000"/>
          </a:gradFill>
          <a:ln>
            <a:noFill/>
          </a:ln>
        </p:spPr>
        <p:txBody>
          <a:bodyPr vert="horz" lIns="144000" tIns="45720" rIns="91440" bIns="45720" anchor="ctr"/>
          <a:lstStyle/>
          <a:p>
            <a:pPr marL="0" algn="l"/>
            <a:r>
              <a:rPr lang="en-US" sz="2000" b="1" i="0" u="none" spc="100" baseline="0">
                <a:solidFill>
                  <a:schemeClr val="lt1"/>
                </a:solidFill>
                <a:latin typeface="思源黑体 Normal"/>
                <a:ea typeface="思源黑体 Normal"/>
              </a:rPr>
              <a:t>Week 3-4: AI Integration and Launch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8985" y="3291840"/>
            <a:ext cx="4615180" cy="2455545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Design UI, set up React project, create Login and Dashboard, build backend APIs, connect MongoDB, and implement user authentication.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5916295" y="2354580"/>
            <a:ext cx="4615180" cy="2455545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Integrate AI for timetable generation, add chatbot and note summarizer, implement reminders, test, fix bugs, deploy, and document.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sp>
        <p:nvSpPr>
          <p:cNvPr id="14" name="TextBox 1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Development Timeline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1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3)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80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705" y="1285875"/>
            <a:ext cx="8056245" cy="5211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3" name="image74.jpeg"/>
          <p:cNvPicPr>
            <a:picLocks noChangeAspect="1"/>
          </p:cNvPicPr>
          <p:nvPr/>
        </p:nvPicPr>
        <p:blipFill rotWithShape="1">
          <a:blip r:embed="rId3"/>
          <a:srcRect l="1416" r="1416"/>
          <a:stretch>
            <a:fillRect/>
          </a:stretch>
        </p:blipFill>
        <p:spPr>
          <a:xfrm>
            <a:off x="6305550" y="1873250"/>
            <a:ext cx="5886450" cy="4036695"/>
          </a:xfrm>
          <a:custGeom>
            <a:avLst/>
            <a:gdLst/>
            <a:ahLst/>
            <a:cxnLst/>
            <a:rect l="0" t="0" r="0" b="0"/>
            <a:pathLst>
              <a:path w="6120000" h="4500000">
                <a:moveTo>
                  <a:pt x="0" y="0"/>
                </a:moveTo>
                <a:lnTo>
                  <a:pt x="6120000" y="0"/>
                </a:lnTo>
                <a:lnTo>
                  <a:pt x="6120000" y="4500000"/>
                </a:lnTo>
                <a:lnTo>
                  <a:pt x="0" y="4500000"/>
                </a:lnTo>
                <a:close/>
              </a:path>
            </a:pathLst>
          </a:custGeom>
          <a:ln w="6350">
            <a:solidFill>
              <a:schemeClr val="tx1">
                <a:alpha val="50000"/>
                <a:lumMod val="40000"/>
                <a:lumOff val="60000"/>
              </a:schemeClr>
            </a:solidFill>
          </a:ln>
          <a:effectLst>
            <a:outerShdw blurRad="254000" dist="381000" dir="8400000" algn="t" rotWithShape="0">
              <a:schemeClr val="accent1">
                <a:alpha val="15000"/>
                <a:lumMod val="50000"/>
              </a:schemeClr>
            </a:outerShdw>
          </a:effectLst>
        </p:spPr>
      </p:pic>
      <p:grpSp>
        <p:nvGrpSpPr>
          <p:cNvPr id="4" name="Group 4"/>
          <p:cNvGrpSpPr/>
          <p:nvPr/>
        </p:nvGrpSpPr>
        <p:grpSpPr>
          <a:xfrm>
            <a:off x="873125" y="2184718"/>
            <a:ext cx="4913630" cy="3413760"/>
            <a:chOff x="1805" y="3251"/>
            <a:chExt cx="7936" cy="5376"/>
          </a:xfrm>
        </p:grpSpPr>
        <p:sp>
          <p:nvSpPr>
            <p:cNvPr id="5" name="TextBox 5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Deploy the frontend on Vercel or Netlify, backend on Render or Railway, and database on MongoDB Atlas for scalable infrastructure.</a:t>
              </a:r>
              <a:endParaRPr lang="en-US" sz="110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D8B750"/>
                  </a:solidFill>
                  <a:latin typeface="思源黑体 Normal"/>
                  <a:ea typeface="思源黑体 Normal"/>
                </a:rPr>
                <a:t>Cloud Platform Selection</a:t>
              </a:r>
              <a:endParaRPr lang="en-US" sz="1100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Deployment Strategy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horizontal)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3325" y="1769745"/>
            <a:ext cx="5232400" cy="4364355"/>
            <a:chOff x="1022247" y="1769914"/>
            <a:chExt cx="5232251" cy="4364186"/>
          </a:xfrm>
          <a:solidFill>
            <a:schemeClr val="bg1"/>
          </a:solidFill>
        </p:grpSpPr>
        <p:sp>
          <p:nvSpPr>
            <p:cNvPr id="3" name="Freeform 3"/>
            <p:cNvSpPr/>
            <p:nvPr/>
          </p:nvSpPr>
          <p:spPr>
            <a:xfrm>
              <a:off x="1022247" y="1769914"/>
              <a:ext cx="5232251" cy="4364186"/>
            </a:xfrm>
            <a:custGeom>
              <a:avLst/>
              <a:gdLst/>
              <a:ahLst/>
              <a:cxnLst/>
              <a:rect l="l" t="t" r="r" b="b"/>
              <a:pathLst>
                <a:path w="5232251" h="4239000">
                  <a:moveTo>
                    <a:pt x="575868" y="0"/>
                  </a:moveTo>
                  <a:lnTo>
                    <a:pt x="4096415" y="0"/>
                  </a:lnTo>
                  <a:lnTo>
                    <a:pt x="5232251" y="4239000"/>
                  </a:lnTo>
                  <a:lnTo>
                    <a:pt x="575868" y="4239000"/>
                  </a:lnTo>
                  <a:cubicBezTo>
                    <a:pt x="257825" y="4239000"/>
                    <a:pt x="0" y="3981175"/>
                    <a:pt x="0" y="3663132"/>
                  </a:cubicBezTo>
                  <a:lnTo>
                    <a:pt x="0" y="575868"/>
                  </a:lnTo>
                  <a:cubicBezTo>
                    <a:pt x="0" y="257825"/>
                    <a:pt x="257825" y="0"/>
                    <a:pt x="575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4" name="AutoShape 4"/>
            <p:cNvSpPr/>
            <p:nvPr/>
          </p:nvSpPr>
          <p:spPr>
            <a:xfrm>
              <a:off x="1203707" y="2017434"/>
              <a:ext cx="803982" cy="803979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5" name="AutoShape 5"/>
            <p:cNvSpPr/>
            <p:nvPr/>
          </p:nvSpPr>
          <p:spPr>
            <a:xfrm>
              <a:off x="1260827" y="2074554"/>
              <a:ext cx="689743" cy="689741"/>
            </a:xfrm>
            <a:prstGeom prst="ellipse">
              <a:avLst/>
            </a:prstGeom>
            <a:solidFill>
              <a:srgbClr val="D8B750"/>
            </a:solidFill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1508705" y="2315382"/>
              <a:ext cx="193988" cy="208085"/>
            </a:xfrm>
            <a:custGeom>
              <a:avLst/>
              <a:gdLst/>
              <a:ahLst/>
              <a:cxnLst/>
              <a:rect l="l" t="t" r="r" b="b"/>
              <a:pathLst>
                <a:path w="487477" h="522922">
                  <a:moveTo>
                    <a:pt x="8356" y="512114"/>
                  </a:moveTo>
                  <a:lnTo>
                    <a:pt x="8356" y="512114"/>
                  </a:lnTo>
                  <a:lnTo>
                    <a:pt x="8356" y="512114"/>
                  </a:lnTo>
                  <a:lnTo>
                    <a:pt x="7404" y="511161"/>
                  </a:lnTo>
                  <a:cubicBezTo>
                    <a:pt x="6451" y="510209"/>
                    <a:pt x="6451" y="509256"/>
                    <a:pt x="5499" y="508303"/>
                  </a:cubicBezTo>
                  <a:lnTo>
                    <a:pt x="5499" y="508303"/>
                  </a:lnTo>
                  <a:lnTo>
                    <a:pt x="5499" y="507351"/>
                  </a:lnTo>
                  <a:lnTo>
                    <a:pt x="4546" y="505446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2641" y="501636"/>
                  </a:lnTo>
                  <a:cubicBezTo>
                    <a:pt x="2641" y="501636"/>
                    <a:pt x="2641" y="500684"/>
                    <a:pt x="2641" y="500684"/>
                  </a:cubicBezTo>
                  <a:cubicBezTo>
                    <a:pt x="2641" y="499731"/>
                    <a:pt x="2641" y="499731"/>
                    <a:pt x="1689" y="498778"/>
                  </a:cubicBezTo>
                  <a:cubicBezTo>
                    <a:pt x="1689" y="497826"/>
                    <a:pt x="736" y="495921"/>
                    <a:pt x="736" y="494968"/>
                  </a:cubicBezTo>
                  <a:lnTo>
                    <a:pt x="736" y="492111"/>
                  </a:lnTo>
                  <a:cubicBezTo>
                    <a:pt x="736" y="490206"/>
                    <a:pt x="736" y="487349"/>
                    <a:pt x="736" y="485443"/>
                  </a:cubicBezTo>
                  <a:cubicBezTo>
                    <a:pt x="736" y="478776"/>
                    <a:pt x="2641" y="473061"/>
                    <a:pt x="5499" y="467346"/>
                  </a:cubicBezTo>
                  <a:lnTo>
                    <a:pt x="155041" y="151116"/>
                  </a:lnTo>
                  <a:cubicBezTo>
                    <a:pt x="157899" y="146353"/>
                    <a:pt x="158851" y="140639"/>
                    <a:pt x="158851" y="134924"/>
                  </a:cubicBezTo>
                  <a:lnTo>
                    <a:pt x="158851" y="19671"/>
                  </a:lnTo>
                  <a:lnTo>
                    <a:pt x="120751" y="19671"/>
                  </a:lnTo>
                  <a:lnTo>
                    <a:pt x="120751" y="621"/>
                  </a:lnTo>
                  <a:lnTo>
                    <a:pt x="368401" y="621"/>
                  </a:lnTo>
                  <a:lnTo>
                    <a:pt x="368401" y="19671"/>
                  </a:lnTo>
                  <a:lnTo>
                    <a:pt x="330301" y="19671"/>
                  </a:lnTo>
                  <a:lnTo>
                    <a:pt x="330301" y="134924"/>
                  </a:lnTo>
                  <a:cubicBezTo>
                    <a:pt x="330301" y="140639"/>
                    <a:pt x="331254" y="146353"/>
                    <a:pt x="334111" y="151116"/>
                  </a:cubicBezTo>
                  <a:lnTo>
                    <a:pt x="483654" y="467346"/>
                  </a:lnTo>
                  <a:cubicBezTo>
                    <a:pt x="489368" y="478776"/>
                    <a:pt x="489368" y="492111"/>
                    <a:pt x="485558" y="504493"/>
                  </a:cubicBezTo>
                  <a:lnTo>
                    <a:pt x="485558" y="504493"/>
                  </a:lnTo>
                  <a:lnTo>
                    <a:pt x="484606" y="506399"/>
                  </a:lnTo>
                  <a:cubicBezTo>
                    <a:pt x="479843" y="515924"/>
                    <a:pt x="470318" y="522591"/>
                    <a:pt x="459841" y="523543"/>
                  </a:cubicBezTo>
                  <a:lnTo>
                    <a:pt x="457936" y="523543"/>
                  </a:lnTo>
                  <a:lnTo>
                    <a:pt x="32168" y="523543"/>
                  </a:lnTo>
                  <a:lnTo>
                    <a:pt x="30264" y="523543"/>
                  </a:lnTo>
                  <a:cubicBezTo>
                    <a:pt x="29311" y="523543"/>
                    <a:pt x="28358" y="523543"/>
                    <a:pt x="27406" y="523543"/>
                  </a:cubicBezTo>
                  <a:cubicBezTo>
                    <a:pt x="26454" y="523543"/>
                    <a:pt x="24549" y="523543"/>
                    <a:pt x="23596" y="522591"/>
                  </a:cubicBezTo>
                  <a:lnTo>
                    <a:pt x="23596" y="522591"/>
                  </a:lnTo>
                  <a:cubicBezTo>
                    <a:pt x="21691" y="521639"/>
                    <a:pt x="19786" y="521639"/>
                    <a:pt x="17881" y="520686"/>
                  </a:cubicBezTo>
                  <a:lnTo>
                    <a:pt x="15976" y="519734"/>
                  </a:lnTo>
                  <a:cubicBezTo>
                    <a:pt x="15976" y="519734"/>
                    <a:pt x="15024" y="519734"/>
                    <a:pt x="15024" y="518781"/>
                  </a:cubicBezTo>
                  <a:cubicBezTo>
                    <a:pt x="13118" y="517828"/>
                    <a:pt x="11214" y="515924"/>
                    <a:pt x="10261" y="514971"/>
                  </a:cubicBezTo>
                  <a:lnTo>
                    <a:pt x="8356" y="512114"/>
                  </a:lnTo>
                  <a:lnTo>
                    <a:pt x="8356" y="512114"/>
                  </a:lnTo>
                  <a:close/>
                  <a:moveTo>
                    <a:pt x="255054" y="402576"/>
                  </a:moveTo>
                  <a:lnTo>
                    <a:pt x="252196" y="404481"/>
                  </a:lnTo>
                  <a:lnTo>
                    <a:pt x="246481" y="408291"/>
                  </a:lnTo>
                  <a:cubicBezTo>
                    <a:pt x="198856" y="439724"/>
                    <a:pt x="119799" y="440676"/>
                    <a:pt x="55029" y="414959"/>
                  </a:cubicBezTo>
                  <a:lnTo>
                    <a:pt x="51218" y="413053"/>
                  </a:lnTo>
                  <a:lnTo>
                    <a:pt x="22643" y="474014"/>
                  </a:lnTo>
                  <a:lnTo>
                    <a:pt x="21691" y="475918"/>
                  </a:lnTo>
                  <a:cubicBezTo>
                    <a:pt x="18833" y="482586"/>
                    <a:pt x="18833" y="490206"/>
                    <a:pt x="21691" y="495921"/>
                  </a:cubicBezTo>
                  <a:cubicBezTo>
                    <a:pt x="22643" y="498778"/>
                    <a:pt x="25501" y="501636"/>
                    <a:pt x="29311" y="502589"/>
                  </a:cubicBezTo>
                  <a:lnTo>
                    <a:pt x="30264" y="502589"/>
                  </a:lnTo>
                  <a:lnTo>
                    <a:pt x="31216" y="502589"/>
                  </a:lnTo>
                  <a:lnTo>
                    <a:pt x="456983" y="502589"/>
                  </a:lnTo>
                  <a:lnTo>
                    <a:pt x="457936" y="502589"/>
                  </a:lnTo>
                  <a:cubicBezTo>
                    <a:pt x="461746" y="502589"/>
                    <a:pt x="464604" y="499731"/>
                    <a:pt x="466508" y="495921"/>
                  </a:cubicBezTo>
                  <a:cubicBezTo>
                    <a:pt x="468414" y="490206"/>
                    <a:pt x="469366" y="483539"/>
                    <a:pt x="467461" y="477824"/>
                  </a:cubicBezTo>
                  <a:lnTo>
                    <a:pt x="466508" y="475918"/>
                  </a:lnTo>
                  <a:lnTo>
                    <a:pt x="465556" y="474014"/>
                  </a:lnTo>
                  <a:lnTo>
                    <a:pt x="423646" y="385431"/>
                  </a:lnTo>
                  <a:cubicBezTo>
                    <a:pt x="365543" y="372096"/>
                    <a:pt x="296011" y="376859"/>
                    <a:pt x="255054" y="402576"/>
                  </a:cubicBezTo>
                  <a:close/>
                  <a:moveTo>
                    <a:pt x="305536" y="255891"/>
                  </a:moveTo>
                  <a:cubicBezTo>
                    <a:pt x="287439" y="255891"/>
                    <a:pt x="272199" y="271131"/>
                    <a:pt x="272199" y="289228"/>
                  </a:cubicBezTo>
                  <a:cubicBezTo>
                    <a:pt x="272199" y="307326"/>
                    <a:pt x="287439" y="322566"/>
                    <a:pt x="305536" y="322566"/>
                  </a:cubicBezTo>
                  <a:cubicBezTo>
                    <a:pt x="323633" y="322566"/>
                    <a:pt x="338874" y="307326"/>
                    <a:pt x="338874" y="289228"/>
                  </a:cubicBezTo>
                  <a:cubicBezTo>
                    <a:pt x="338874" y="270178"/>
                    <a:pt x="323633" y="255891"/>
                    <a:pt x="305536" y="25589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0170" tIns="46990" rIns="90170" bIns="46990" anchor="ctr">
              <a:normAutofit fontScale="47500" lnSpcReduction="20000"/>
            </a:bodyPr>
            <a:lstStyle/>
            <a:p>
              <a:pPr marL="0" algn="ctr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79745" y="1769745"/>
            <a:ext cx="5407631" cy="4364355"/>
            <a:chOff x="5399051" y="1769914"/>
            <a:chExt cx="5407482" cy="4364186"/>
          </a:xfrm>
          <a:solidFill>
            <a:schemeClr val="bg1"/>
          </a:solidFill>
        </p:grpSpPr>
        <p:sp>
          <p:nvSpPr>
            <p:cNvPr id="8" name="Freeform 8"/>
            <p:cNvSpPr/>
            <p:nvPr/>
          </p:nvSpPr>
          <p:spPr>
            <a:xfrm>
              <a:off x="5399051" y="1769914"/>
              <a:ext cx="5407482" cy="4364186"/>
            </a:xfrm>
            <a:custGeom>
              <a:avLst/>
              <a:gdLst/>
              <a:ahLst/>
              <a:cxnLst/>
              <a:rect l="l" t="t" r="r" b="b"/>
              <a:pathLst>
                <a:path w="5407482" h="4239000">
                  <a:moveTo>
                    <a:pt x="0" y="0"/>
                  </a:moveTo>
                  <a:lnTo>
                    <a:pt x="4831614" y="0"/>
                  </a:lnTo>
                  <a:cubicBezTo>
                    <a:pt x="5149657" y="0"/>
                    <a:pt x="5407482" y="257825"/>
                    <a:pt x="5407482" y="575868"/>
                  </a:cubicBezTo>
                  <a:lnTo>
                    <a:pt x="5407482" y="3663132"/>
                  </a:lnTo>
                  <a:cubicBezTo>
                    <a:pt x="5407482" y="3981175"/>
                    <a:pt x="5149657" y="4239000"/>
                    <a:pt x="4831614" y="4239000"/>
                  </a:cubicBezTo>
                  <a:lnTo>
                    <a:pt x="1135837" y="42390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9804460" y="5125857"/>
              <a:ext cx="803982" cy="803979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9861580" y="5182976"/>
              <a:ext cx="689743" cy="689741"/>
            </a:xfrm>
            <a:prstGeom prst="ellipse">
              <a:avLst/>
            </a:prstGeom>
            <a:solidFill>
              <a:srgbClr val="D8B750"/>
            </a:solidFill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109457" y="5423804"/>
              <a:ext cx="193988" cy="208085"/>
            </a:xfrm>
            <a:custGeom>
              <a:avLst/>
              <a:gdLst/>
              <a:ahLst/>
              <a:cxnLst/>
              <a:rect l="l" t="t" r="r" b="b"/>
              <a:pathLst>
                <a:path w="487477" h="522922">
                  <a:moveTo>
                    <a:pt x="8356" y="512114"/>
                  </a:moveTo>
                  <a:lnTo>
                    <a:pt x="8356" y="512114"/>
                  </a:lnTo>
                  <a:lnTo>
                    <a:pt x="8356" y="512114"/>
                  </a:lnTo>
                  <a:lnTo>
                    <a:pt x="7404" y="511161"/>
                  </a:lnTo>
                  <a:cubicBezTo>
                    <a:pt x="6451" y="510209"/>
                    <a:pt x="6451" y="509256"/>
                    <a:pt x="5499" y="508303"/>
                  </a:cubicBezTo>
                  <a:lnTo>
                    <a:pt x="5499" y="508303"/>
                  </a:lnTo>
                  <a:lnTo>
                    <a:pt x="5499" y="507351"/>
                  </a:lnTo>
                  <a:lnTo>
                    <a:pt x="4546" y="505446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2641" y="501636"/>
                  </a:lnTo>
                  <a:cubicBezTo>
                    <a:pt x="2641" y="501636"/>
                    <a:pt x="2641" y="500684"/>
                    <a:pt x="2641" y="500684"/>
                  </a:cubicBezTo>
                  <a:cubicBezTo>
                    <a:pt x="2641" y="499731"/>
                    <a:pt x="2641" y="499731"/>
                    <a:pt x="1689" y="498778"/>
                  </a:cubicBezTo>
                  <a:cubicBezTo>
                    <a:pt x="1689" y="497826"/>
                    <a:pt x="736" y="495921"/>
                    <a:pt x="736" y="494968"/>
                  </a:cubicBezTo>
                  <a:lnTo>
                    <a:pt x="736" y="492111"/>
                  </a:lnTo>
                  <a:cubicBezTo>
                    <a:pt x="736" y="490206"/>
                    <a:pt x="736" y="487349"/>
                    <a:pt x="736" y="485443"/>
                  </a:cubicBezTo>
                  <a:cubicBezTo>
                    <a:pt x="736" y="478776"/>
                    <a:pt x="2641" y="473061"/>
                    <a:pt x="5499" y="467346"/>
                  </a:cubicBezTo>
                  <a:lnTo>
                    <a:pt x="155041" y="151116"/>
                  </a:lnTo>
                  <a:cubicBezTo>
                    <a:pt x="157899" y="146353"/>
                    <a:pt x="158851" y="140639"/>
                    <a:pt x="158851" y="134924"/>
                  </a:cubicBezTo>
                  <a:lnTo>
                    <a:pt x="158851" y="19671"/>
                  </a:lnTo>
                  <a:lnTo>
                    <a:pt x="120751" y="19671"/>
                  </a:lnTo>
                  <a:lnTo>
                    <a:pt x="120751" y="621"/>
                  </a:lnTo>
                  <a:lnTo>
                    <a:pt x="368401" y="621"/>
                  </a:lnTo>
                  <a:lnTo>
                    <a:pt x="368401" y="19671"/>
                  </a:lnTo>
                  <a:lnTo>
                    <a:pt x="330301" y="19671"/>
                  </a:lnTo>
                  <a:lnTo>
                    <a:pt x="330301" y="134924"/>
                  </a:lnTo>
                  <a:cubicBezTo>
                    <a:pt x="330301" y="140639"/>
                    <a:pt x="331254" y="146353"/>
                    <a:pt x="334111" y="151116"/>
                  </a:cubicBezTo>
                  <a:lnTo>
                    <a:pt x="483654" y="467346"/>
                  </a:lnTo>
                  <a:cubicBezTo>
                    <a:pt x="489368" y="478776"/>
                    <a:pt x="489368" y="492111"/>
                    <a:pt x="485558" y="504493"/>
                  </a:cubicBezTo>
                  <a:lnTo>
                    <a:pt x="485558" y="504493"/>
                  </a:lnTo>
                  <a:lnTo>
                    <a:pt x="484606" y="506399"/>
                  </a:lnTo>
                  <a:cubicBezTo>
                    <a:pt x="479843" y="515924"/>
                    <a:pt x="470318" y="522591"/>
                    <a:pt x="459841" y="523543"/>
                  </a:cubicBezTo>
                  <a:lnTo>
                    <a:pt x="457936" y="523543"/>
                  </a:lnTo>
                  <a:lnTo>
                    <a:pt x="32168" y="523543"/>
                  </a:lnTo>
                  <a:lnTo>
                    <a:pt x="30264" y="523543"/>
                  </a:lnTo>
                  <a:cubicBezTo>
                    <a:pt x="29311" y="523543"/>
                    <a:pt x="28358" y="523543"/>
                    <a:pt x="27406" y="523543"/>
                  </a:cubicBezTo>
                  <a:cubicBezTo>
                    <a:pt x="26454" y="523543"/>
                    <a:pt x="24549" y="523543"/>
                    <a:pt x="23596" y="522591"/>
                  </a:cubicBezTo>
                  <a:lnTo>
                    <a:pt x="23596" y="522591"/>
                  </a:lnTo>
                  <a:cubicBezTo>
                    <a:pt x="21691" y="521639"/>
                    <a:pt x="19786" y="521639"/>
                    <a:pt x="17881" y="520686"/>
                  </a:cubicBezTo>
                  <a:lnTo>
                    <a:pt x="15976" y="519734"/>
                  </a:lnTo>
                  <a:cubicBezTo>
                    <a:pt x="15976" y="519734"/>
                    <a:pt x="15024" y="519734"/>
                    <a:pt x="15024" y="518781"/>
                  </a:cubicBezTo>
                  <a:cubicBezTo>
                    <a:pt x="13118" y="517828"/>
                    <a:pt x="11214" y="515924"/>
                    <a:pt x="10261" y="514971"/>
                  </a:cubicBezTo>
                  <a:lnTo>
                    <a:pt x="8356" y="512114"/>
                  </a:lnTo>
                  <a:lnTo>
                    <a:pt x="8356" y="512114"/>
                  </a:lnTo>
                  <a:close/>
                  <a:moveTo>
                    <a:pt x="255054" y="402576"/>
                  </a:moveTo>
                  <a:lnTo>
                    <a:pt x="252196" y="404481"/>
                  </a:lnTo>
                  <a:lnTo>
                    <a:pt x="246481" y="408291"/>
                  </a:lnTo>
                  <a:cubicBezTo>
                    <a:pt x="198856" y="439724"/>
                    <a:pt x="119799" y="440676"/>
                    <a:pt x="55029" y="414959"/>
                  </a:cubicBezTo>
                  <a:lnTo>
                    <a:pt x="51218" y="413053"/>
                  </a:lnTo>
                  <a:lnTo>
                    <a:pt x="22643" y="474014"/>
                  </a:lnTo>
                  <a:lnTo>
                    <a:pt x="21691" y="475918"/>
                  </a:lnTo>
                  <a:cubicBezTo>
                    <a:pt x="18833" y="482586"/>
                    <a:pt x="18833" y="490206"/>
                    <a:pt x="21691" y="495921"/>
                  </a:cubicBezTo>
                  <a:cubicBezTo>
                    <a:pt x="22643" y="498778"/>
                    <a:pt x="25501" y="501636"/>
                    <a:pt x="29311" y="502589"/>
                  </a:cubicBezTo>
                  <a:lnTo>
                    <a:pt x="30264" y="502589"/>
                  </a:lnTo>
                  <a:lnTo>
                    <a:pt x="31216" y="502589"/>
                  </a:lnTo>
                  <a:lnTo>
                    <a:pt x="456983" y="502589"/>
                  </a:lnTo>
                  <a:lnTo>
                    <a:pt x="457936" y="502589"/>
                  </a:lnTo>
                  <a:cubicBezTo>
                    <a:pt x="461746" y="502589"/>
                    <a:pt x="464604" y="499731"/>
                    <a:pt x="466508" y="495921"/>
                  </a:cubicBezTo>
                  <a:cubicBezTo>
                    <a:pt x="468414" y="490206"/>
                    <a:pt x="469366" y="483539"/>
                    <a:pt x="467461" y="477824"/>
                  </a:cubicBezTo>
                  <a:lnTo>
                    <a:pt x="466508" y="475918"/>
                  </a:lnTo>
                  <a:lnTo>
                    <a:pt x="465556" y="474014"/>
                  </a:lnTo>
                  <a:lnTo>
                    <a:pt x="423646" y="385431"/>
                  </a:lnTo>
                  <a:cubicBezTo>
                    <a:pt x="365543" y="372096"/>
                    <a:pt x="296011" y="376859"/>
                    <a:pt x="255054" y="402576"/>
                  </a:cubicBezTo>
                  <a:close/>
                  <a:moveTo>
                    <a:pt x="305536" y="255891"/>
                  </a:moveTo>
                  <a:cubicBezTo>
                    <a:pt x="287439" y="255891"/>
                    <a:pt x="272199" y="271131"/>
                    <a:pt x="272199" y="289228"/>
                  </a:cubicBezTo>
                  <a:cubicBezTo>
                    <a:pt x="272199" y="307326"/>
                    <a:pt x="287439" y="322566"/>
                    <a:pt x="305536" y="322566"/>
                  </a:cubicBezTo>
                  <a:cubicBezTo>
                    <a:pt x="323633" y="322566"/>
                    <a:pt x="338874" y="307326"/>
                    <a:pt x="338874" y="289228"/>
                  </a:cubicBezTo>
                  <a:cubicBezTo>
                    <a:pt x="338874" y="270178"/>
                    <a:pt x="323633" y="255891"/>
                    <a:pt x="305536" y="25589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0170" tIns="46990" rIns="90170" bIns="46990" anchor="ctr">
              <a:normAutofit fontScale="475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33500" y="2789555"/>
            <a:ext cx="4248000" cy="79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Next-Generation Capabilities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33500" y="3581400"/>
            <a:ext cx="4248000" cy="1980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333333"/>
                </a:solidFill>
                <a:latin typeface="思源黑体 Normal"/>
                <a:ea typeface="思源黑体 Normal"/>
              </a:rPr>
              <a:t>Future features include voice-based AI tutor, OCR for handwritten notes, AI flashcard generator, spaced repetition, and performance-based recommendations.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83985" y="1996440"/>
            <a:ext cx="4248000" cy="79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Collaboration and Accessibility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83985" y="2789555"/>
            <a:ext cx="4248000" cy="1980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333333"/>
                </a:solidFill>
                <a:latin typeface="思源黑体 Normal"/>
                <a:ea typeface="思源黑体 Normal"/>
              </a:rPr>
              <a:t>Additional enhancements include group study planning, real-time collaboration, offline mode, multi-language support, and parent/teacher dashboards.</a:t>
            </a:r>
          </a:p>
        </p:txBody>
      </p:sp>
      <p:sp>
        <p:nvSpPr>
          <p:cNvPr id="16" name="Freeform 1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sp>
        <p:nvSpPr>
          <p:cNvPr id="17" name="TextBox 1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Advanced Features and Future Enhancements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1)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V="1">
            <a:off x="7397677" y="343864"/>
            <a:ext cx="1182986" cy="118298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3" name="Connector 3"/>
          <p:cNvCxnSpPr/>
          <p:nvPr/>
        </p:nvCxnSpPr>
        <p:spPr>
          <a:xfrm flipV="1">
            <a:off x="7451449" y="1283566"/>
            <a:ext cx="582816" cy="58281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4" name="Connector 4"/>
          <p:cNvCxnSpPr/>
          <p:nvPr/>
        </p:nvCxnSpPr>
        <p:spPr>
          <a:xfrm flipV="1">
            <a:off x="3103920" y="5241708"/>
            <a:ext cx="1182986" cy="118298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id="5" name="Connector 5"/>
          <p:cNvCxnSpPr/>
          <p:nvPr/>
        </p:nvCxnSpPr>
        <p:spPr>
          <a:xfrm flipV="1">
            <a:off x="3236970" y="5342873"/>
            <a:ext cx="582816" cy="582816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sp>
        <p:nvSpPr>
          <p:cNvPr id="6" name="TextBox 6"/>
          <p:cNvSpPr txBox="1"/>
          <p:nvPr/>
        </p:nvSpPr>
        <p:spPr>
          <a:xfrm>
            <a:off x="4037648" y="2112010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5000" b="0" i="0" u="none" baseline="0">
                <a:ln/>
                <a:solidFill>
                  <a:schemeClr val="bg2"/>
                </a:solidFill>
                <a:effectLst/>
                <a:latin typeface="思源黑体 Medium"/>
                <a:ea typeface="思源黑体 Medium"/>
              </a:rPr>
              <a:t>PART   07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2648585" y="3035300"/>
            <a:ext cx="7256145" cy="200850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chemeClr val="bg2"/>
                </a:solidFill>
                <a:latin typeface="思源黑体 Medium"/>
                <a:ea typeface="思源黑体 Medium"/>
              </a:rPr>
              <a:t>Example User Journey and Learning Path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4554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6595" y="2295525"/>
            <a:ext cx="5102225" cy="36125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61390" y="1760855"/>
            <a:ext cx="793750" cy="777875"/>
          </a:xfrm>
          <a:prstGeom prst="roundRect">
            <a:avLst>
              <a:gd name="adj" fmla="val 0"/>
            </a:avLst>
          </a:prstGeom>
          <a:solidFill>
            <a:srgbClr val="D8B750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i="0" u="none" baseline="0">
                <a:solidFill>
                  <a:schemeClr val="lt1"/>
                </a:solidFill>
                <a:latin typeface="思源黑体 Medium"/>
                <a:ea typeface="思源黑体 Medium"/>
              </a:rPr>
              <a:t>01</a:t>
            </a:r>
          </a:p>
        </p:txBody>
      </p:sp>
      <p:cxnSp>
        <p:nvCxnSpPr>
          <p:cNvPr id="4" name="Connector 4"/>
          <p:cNvCxnSpPr/>
          <p:nvPr/>
        </p:nvCxnSpPr>
        <p:spPr>
          <a:xfrm flipV="1">
            <a:off x="916305" y="3330575"/>
            <a:ext cx="4662805" cy="0"/>
          </a:xfrm>
          <a:prstGeom prst="line">
            <a:avLst/>
          </a:prstGeom>
          <a:ln w="22225">
            <a:solidFill>
              <a:srgbClr val="D8B750">
                <a:alpha val="50000"/>
              </a:srgbClr>
            </a:solidFill>
          </a:ln>
        </p:spPr>
      </p:cxnSp>
      <p:sp>
        <p:nvSpPr>
          <p:cNvPr id="5" name="AutoShape 5"/>
          <p:cNvSpPr/>
          <p:nvPr/>
        </p:nvSpPr>
        <p:spPr>
          <a:xfrm>
            <a:off x="6393815" y="2295525"/>
            <a:ext cx="5102225" cy="36125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657975" y="1760855"/>
            <a:ext cx="793750" cy="777875"/>
          </a:xfrm>
          <a:prstGeom prst="roundRect">
            <a:avLst>
              <a:gd name="adj" fmla="val 0"/>
            </a:avLst>
          </a:prstGeom>
          <a:solidFill>
            <a:srgbClr val="D8B750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i="0" u="none" baseline="0">
                <a:solidFill>
                  <a:schemeClr val="lt1"/>
                </a:solidFill>
                <a:latin typeface="思源黑体 Medium"/>
                <a:ea typeface="思源黑体 Medium"/>
              </a:rPr>
              <a:t>02</a:t>
            </a:r>
          </a:p>
        </p:txBody>
      </p:sp>
      <p:cxnSp>
        <p:nvCxnSpPr>
          <p:cNvPr id="7" name="Connector 7"/>
          <p:cNvCxnSpPr/>
          <p:nvPr/>
        </p:nvCxnSpPr>
        <p:spPr>
          <a:xfrm flipV="1">
            <a:off x="6614160" y="3336290"/>
            <a:ext cx="4662170" cy="0"/>
          </a:xfrm>
          <a:prstGeom prst="line">
            <a:avLst/>
          </a:prstGeom>
          <a:ln w="22225">
            <a:solidFill>
              <a:srgbClr val="D8B750">
                <a:alpha val="50000"/>
              </a:srgbClr>
            </a:solidFill>
          </a:ln>
        </p:spPr>
      </p:cxn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Sample User Scenario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sp>
        <p:nvSpPr>
          <p:cNvPr id="10" name="TextBox 10"/>
          <p:cNvSpPr txBox="1"/>
          <p:nvPr/>
        </p:nvSpPr>
        <p:spPr>
          <a:xfrm>
            <a:off x="961390" y="2796540"/>
            <a:ext cx="4535805" cy="5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 dirty="0">
                <a:solidFill>
                  <a:srgbClr val="D8B750"/>
                </a:solidFill>
                <a:latin typeface="思源黑体 Normal"/>
                <a:ea typeface="思源黑体 Normal"/>
              </a:rPr>
              <a:t>Student Input Parameters</a:t>
            </a:r>
            <a:endParaRPr lang="en-US" sz="1100" dirty="0"/>
          </a:p>
        </p:txBody>
      </p:sp>
      <p:sp>
        <p:nvSpPr>
          <p:cNvPr id="11" name="TextBox 11"/>
          <p:cNvSpPr txBox="1"/>
          <p:nvPr/>
        </p:nvSpPr>
        <p:spPr>
          <a:xfrm>
            <a:off x="916305" y="3304540"/>
            <a:ext cx="4536000" cy="216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A student inputs subjects (Mathematics, Physics, Computer Science), an exam date 20 days away, 4 daily study hours, and a goal to score above 90%.</a:t>
            </a: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657975" y="3343275"/>
            <a:ext cx="4536000" cy="216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 AI outputs a 2-hour Mathematics session, 1-hour Physics session, 1-hour Computer Science session, daily revision reminders, weekly quizzes, and a progress dashboard.</a:t>
            </a: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657975" y="2796540"/>
            <a:ext cx="4535805" cy="5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AI-Generated Study Plan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8458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in)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15645" y="4505960"/>
            <a:ext cx="5078095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pic>
        <p:nvPicPr>
          <p:cNvPr id="3" name="image11.jpeg"/>
          <p:cNvPicPr>
            <a:picLocks noChangeAspect="1"/>
          </p:cNvPicPr>
          <p:nvPr/>
        </p:nvPicPr>
        <p:blipFill>
          <a:blip r:embed="rId3"/>
          <a:srcRect l="-13" t="2651" r="13" b="26612"/>
          <a:stretch>
            <a:fillRect/>
          </a:stretch>
        </p:blipFill>
        <p:spPr>
          <a:xfrm>
            <a:off x="714375" y="1350645"/>
            <a:ext cx="5064760" cy="2388235"/>
          </a:xfrm>
          <a:prstGeom prst="roundRect">
            <a:avLst>
              <a:gd name="adj" fmla="val 9726"/>
            </a:avLst>
          </a:pr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646430" y="3968115"/>
            <a:ext cx="637540" cy="540000"/>
          </a:xfrm>
          <a:prstGeom prst="rect">
            <a:avLst/>
          </a:prstGeom>
          <a:noFill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i="0" u="none" baseline="0">
                <a:solidFill>
                  <a:srgbClr val="D8B750"/>
                </a:solidFill>
                <a:latin typeface="思源黑体 Medium"/>
                <a:ea typeface="思源黑体 Medium"/>
              </a:rPr>
              <a:t>01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448425" y="4505960"/>
            <a:ext cx="5066030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pic>
        <p:nvPicPr>
          <p:cNvPr id="6" name="image12.jpeg"/>
          <p:cNvPicPr>
            <a:picLocks noChangeAspect="1"/>
          </p:cNvPicPr>
          <p:nvPr/>
        </p:nvPicPr>
        <p:blipFill>
          <a:blip r:embed="rId4"/>
          <a:srcRect t="4863" b="24418"/>
          <a:stretch>
            <a:fillRect/>
          </a:stretch>
        </p:blipFill>
        <p:spPr>
          <a:xfrm>
            <a:off x="6448425" y="1350645"/>
            <a:ext cx="5066030" cy="2388235"/>
          </a:xfrm>
          <a:prstGeom prst="roundRect">
            <a:avLst>
              <a:gd name="adj" fmla="val 9726"/>
            </a:avLst>
          </a:pr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6448425" y="4532630"/>
            <a:ext cx="506603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Store data in MongoDB, integrate an LLM for personalized schedules and quizzes, add reminders and analytics, then test and deploy the application online.</a:t>
            </a:r>
          </a:p>
        </p:txBody>
      </p:sp>
      <p:sp>
        <p:nvSpPr>
          <p:cNvPr id="8" name="AutoShape 8"/>
          <p:cNvSpPr/>
          <p:nvPr/>
        </p:nvSpPr>
        <p:spPr>
          <a:xfrm>
            <a:off x="6329045" y="3968115"/>
            <a:ext cx="637540" cy="540000"/>
          </a:xfrm>
          <a:prstGeom prst="rect">
            <a:avLst/>
          </a:prstGeom>
          <a:noFill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i="0" u="none" baseline="0">
                <a:solidFill>
                  <a:srgbClr val="D8B750"/>
                </a:solidFill>
                <a:latin typeface="思源黑体 Medium"/>
                <a:ea typeface="思源黑体 Medium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80860" y="3968115"/>
            <a:ext cx="4633595" cy="5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Database, AI, and Deployment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4375" y="4532630"/>
            <a:ext cx="506603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Learn HTML, CSS, JavaScript, and React for the frontend. Build a backend with Node.js and Express for server-side functionality.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6810" y="3968115"/>
            <a:ext cx="4633595" cy="5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D8B750"/>
                </a:solidFill>
                <a:latin typeface="思源黑体 Normal"/>
                <a:ea typeface="思源黑体 Normal"/>
              </a:rPr>
              <a:t>Frontend and Backend Skills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Learning Path for Development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sp>
        <p:nvSpPr>
          <p:cNvPr id="14" name="AutoShape 1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in)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in)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3488" y="2295524"/>
            <a:ext cx="5102225" cy="36125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 fontScale="85000" lnSpcReduction="20000"/>
          </a:bodyPr>
          <a:lstStyle/>
          <a:p>
            <a:r>
              <a:rPr lang="en-US" dirty="0"/>
              <a:t>The AI-Powered Smart Study Planner aims to help students organize their studies through personalized scheduling, adaptive learning, progress tracking and intelligent revision recommendations.</a:t>
            </a:r>
          </a:p>
          <a:p>
            <a:r>
              <a:rPr lang="en-US" dirty="0"/>
              <a:t>The research focuses on five areas:</a:t>
            </a:r>
          </a:p>
          <a:p>
            <a:r>
              <a:rPr lang="en-US" b="1" dirty="0" smtClean="0"/>
              <a:t>&gt;&gt;Personalized </a:t>
            </a:r>
            <a:r>
              <a:rPr lang="en-US" b="1" dirty="0"/>
              <a:t>learning</a:t>
            </a:r>
            <a:r>
              <a:rPr lang="en-US" dirty="0"/>
              <a:t>: Adapting learning activities to individual students' needs.</a:t>
            </a:r>
          </a:p>
          <a:p>
            <a:r>
              <a:rPr lang="en-US" b="1" dirty="0" smtClean="0"/>
              <a:t>&gt;&gt;AI-based </a:t>
            </a:r>
            <a:r>
              <a:rPr lang="en-US" b="1" dirty="0"/>
              <a:t>scheduling: </a:t>
            </a:r>
            <a:r>
              <a:rPr lang="en-US" dirty="0"/>
              <a:t>Creating and adjusting study timetables based on available time and priorities.</a:t>
            </a:r>
          </a:p>
          <a:p>
            <a:r>
              <a:rPr lang="en-US" b="1" dirty="0" smtClean="0"/>
              <a:t>&gt;&gt;Spaced </a:t>
            </a:r>
            <a:r>
              <a:rPr lang="en-US" b="1" dirty="0"/>
              <a:t>repetition: </a:t>
            </a:r>
            <a:r>
              <a:rPr lang="en-US" dirty="0"/>
              <a:t>Scheduling revision over time to support long-term retention.</a:t>
            </a:r>
          </a:p>
          <a:p>
            <a:r>
              <a:rPr lang="en-US" b="1" dirty="0" smtClean="0"/>
              <a:t>&gt;&gt;Learning </a:t>
            </a:r>
            <a:r>
              <a:rPr lang="en-US" b="1" dirty="0"/>
              <a:t>analytics: </a:t>
            </a:r>
            <a:r>
              <a:rPr lang="en-US" dirty="0"/>
              <a:t>Using student activity and performance data to identify learning needs.</a:t>
            </a:r>
          </a:p>
          <a:p>
            <a:r>
              <a:rPr lang="en-US" b="1" dirty="0" smtClean="0"/>
              <a:t>&gt;&gt;Intelligent </a:t>
            </a:r>
            <a:r>
              <a:rPr lang="en-US" b="1" dirty="0"/>
              <a:t>tutoring: </a:t>
            </a:r>
            <a:r>
              <a:rPr lang="en-US" dirty="0"/>
              <a:t>Providing explanations, feedback and practice questions.</a:t>
            </a:r>
          </a:p>
          <a:p>
            <a:r>
              <a:rPr lang="en-US" dirty="0"/>
              <a:t>The central research problem is how to combine these techniques into a single planner that adapts to a student's changing academic requirements</a:t>
            </a:r>
          </a:p>
        </p:txBody>
      </p:sp>
      <p:sp>
        <p:nvSpPr>
          <p:cNvPr id="3" name="AutoShape 3"/>
          <p:cNvSpPr/>
          <p:nvPr/>
        </p:nvSpPr>
        <p:spPr>
          <a:xfrm>
            <a:off x="964633" y="1646238"/>
            <a:ext cx="2162810" cy="777875"/>
          </a:xfrm>
          <a:prstGeom prst="roundRect">
            <a:avLst>
              <a:gd name="adj" fmla="val 0"/>
            </a:avLst>
          </a:prstGeom>
          <a:solidFill>
            <a:srgbClr val="D8B750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chemeClr val="lt1"/>
                </a:solidFill>
                <a:latin typeface="思源黑体 Medium"/>
                <a:ea typeface="思源黑体 Medium"/>
              </a:rPr>
              <a:t>Research</a:t>
            </a:r>
            <a:endParaRPr lang="en-US" sz="2400" b="1" i="0" u="none" baseline="0" dirty="0">
              <a:solidFill>
                <a:schemeClr val="lt1"/>
              </a:solidFill>
              <a:latin typeface="思源黑体 Medium"/>
              <a:ea typeface="思源黑体 Medium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374764" y="2294984"/>
            <a:ext cx="5102225" cy="387721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 fontScale="92500" lnSpcReduction="10000"/>
          </a:bodyPr>
          <a:lstStyle/>
          <a:p>
            <a:r>
              <a:rPr lang="en-IN" b="1" dirty="0"/>
              <a:t>AI Smart Study Planner — Literature Review 10 research papers on personalized learning, learner </a:t>
            </a:r>
            <a:r>
              <a:rPr lang="en-IN" b="1" dirty="0" err="1"/>
              <a:t>modeling</a:t>
            </a:r>
            <a:r>
              <a:rPr lang="en-IN" b="1" dirty="0"/>
              <a:t>, educational data mining, adaptive systems, AI feedback, and self-regulated learning</a:t>
            </a:r>
            <a:r>
              <a:rPr lang="en-IN" dirty="0"/>
              <a:t>. Authors Methodology Dataset Findings Limitations Research Gap DOI </a:t>
            </a:r>
            <a:r>
              <a:rPr lang="en-IN" dirty="0" err="1"/>
              <a:t>Hariyanto</a:t>
            </a:r>
            <a:r>
              <a:rPr lang="en-IN" dirty="0"/>
              <a:t>; F. X. D. </a:t>
            </a:r>
            <a:r>
              <a:rPr lang="en-IN" dirty="0" err="1"/>
              <a:t>Kristianingsih</a:t>
            </a:r>
            <a:r>
              <a:rPr lang="en-IN" dirty="0"/>
              <a:t>; R. Maharani PRISMA systematic review of AI/ML/DL/RL and multimodal personalization. 142 empirical studies (2015–2025); Scopus, Web of Science, IEEE </a:t>
            </a:r>
            <a:r>
              <a:rPr lang="en-IN" dirty="0" err="1"/>
              <a:t>Xplore</a:t>
            </a:r>
            <a:r>
              <a:rPr lang="en-IN" dirty="0"/>
              <a:t>. AI supports learner classification, performance prediction, dynamic sequencing and personalization. Interpretability, privacy, scalability, compute needs and data quality. More explainable, modular, privacy-aware and culturally responsive adaptive systems. 1</a:t>
            </a:r>
            <a:endParaRPr dirty="0"/>
          </a:p>
        </p:txBody>
      </p:sp>
      <p:sp>
        <p:nvSpPr>
          <p:cNvPr id="6" name="AutoShape 6"/>
          <p:cNvSpPr/>
          <p:nvPr/>
        </p:nvSpPr>
        <p:spPr>
          <a:xfrm>
            <a:off x="6579260" y="1548718"/>
            <a:ext cx="1800226" cy="777875"/>
          </a:xfrm>
          <a:prstGeom prst="roundRect">
            <a:avLst>
              <a:gd name="adj" fmla="val 0"/>
            </a:avLst>
          </a:prstGeom>
          <a:solidFill>
            <a:srgbClr val="D8B750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chemeClr val="lt1"/>
                </a:solidFill>
                <a:latin typeface="思源黑体 Medium"/>
                <a:ea typeface="思源黑体 Medium"/>
              </a:rPr>
              <a:t>Reference</a:t>
            </a:r>
            <a:endParaRPr lang="en-US" sz="2400" b="1" i="0" u="none" baseline="0" dirty="0">
              <a:solidFill>
                <a:schemeClr val="lt1"/>
              </a:solidFill>
              <a:latin typeface="思源黑体 Medium"/>
              <a:ea typeface="思源黑体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8B750"/>
                </a:solidFill>
                <a:latin typeface="思源黑体 Normal"/>
                <a:ea typeface="思源黑体 Normal"/>
              </a:rPr>
              <a:t>Sample User Scenario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8B750"/>
          </a:solidFill>
        </p:spPr>
      </p:sp>
      <p:sp>
        <p:nvSpPr>
          <p:cNvPr id="10" name="TextBox 10"/>
          <p:cNvSpPr txBox="1"/>
          <p:nvPr/>
        </p:nvSpPr>
        <p:spPr>
          <a:xfrm>
            <a:off x="961390" y="2796540"/>
            <a:ext cx="4535805" cy="5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endParaRPr lang="en-US" sz="1100" dirty="0"/>
          </a:p>
        </p:txBody>
      </p:sp>
      <p:sp>
        <p:nvSpPr>
          <p:cNvPr id="11" name="TextBox 11"/>
          <p:cNvSpPr txBox="1"/>
          <p:nvPr/>
        </p:nvSpPr>
        <p:spPr>
          <a:xfrm>
            <a:off x="916305" y="3304540"/>
            <a:ext cx="4536000" cy="216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r" fontAlgn="auto">
              <a:lnSpc>
                <a:spcPct val="150000"/>
              </a:lnSpc>
            </a:pP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6657975" y="3343275"/>
            <a:ext cx="4536000" cy="216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r" fontAlgn="auto">
              <a:lnSpc>
                <a:spcPct val="150000"/>
              </a:lnSpc>
            </a:pPr>
            <a:endParaRPr lang="en-US" sz="1100" dirty="0"/>
          </a:p>
          <a:p>
            <a:pPr marL="0" indent="0" algn="r" fontAlgn="auto">
              <a:lnSpc>
                <a:spcPct val="150000"/>
              </a:lnSpc>
            </a:pP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6657975" y="2796540"/>
            <a:ext cx="4535805" cy="5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108458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235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in)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1473" y="4437380"/>
            <a:ext cx="2788919" cy="400110"/>
          </a:xfrm>
          <a:prstGeom prst="rect">
            <a:avLst/>
          </a:prstGeom>
          <a:grp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baseline="0" dirty="0">
                <a:solidFill>
                  <a:srgbClr val="FFFFFF">
                    <a:alpha val="100000"/>
                  </a:srgbClr>
                </a:solidFill>
                <a:latin typeface="思源黑体 CN Normal"/>
                <a:ea typeface="思源黑体 CN Normal"/>
              </a:rPr>
              <a:t>Presenter</a:t>
            </a:r>
            <a:r>
              <a:rPr lang="en-US" sz="2000" b="1" i="0" u="none" baseline="0" dirty="0">
                <a:solidFill>
                  <a:srgbClr val="FFFFFF">
                    <a:alpha val="100000"/>
                  </a:srgbClr>
                </a:solidFill>
                <a:latin typeface="思源黑体 Normal"/>
                <a:ea typeface="思源黑体 Normal"/>
              </a:rPr>
              <a:t>: </a:t>
            </a:r>
            <a:r>
              <a:rPr lang="en-US" sz="2000" b="1" dirty="0" err="1" smtClean="0">
                <a:solidFill>
                  <a:srgbClr val="FFFFFF">
                    <a:alpha val="100000"/>
                  </a:srgbClr>
                </a:solidFill>
                <a:latin typeface="思源黑体 Normal"/>
                <a:ea typeface="思源黑体 Normal"/>
              </a:rPr>
              <a:t>Codehive</a:t>
            </a:r>
            <a:endParaRPr lang="en-US" sz="2000" b="1" dirty="0"/>
          </a:p>
        </p:txBody>
      </p:sp>
      <p:sp>
        <p:nvSpPr>
          <p:cNvPr id="3" name="AutoShape 3"/>
          <p:cNvSpPr/>
          <p:nvPr/>
        </p:nvSpPr>
        <p:spPr>
          <a:xfrm>
            <a:off x="7391400" y="4420422"/>
            <a:ext cx="3932840" cy="368300"/>
          </a:xfrm>
          <a:prstGeom prst="rect">
            <a:avLst/>
          </a:prstGeom>
          <a:grp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indent="0" algn="l">
              <a:lnSpc>
                <a:spcPct val="100000"/>
              </a:lnSpc>
            </a:pPr>
            <a:r>
              <a:rPr lang="en-US" sz="1800" b="1" i="0" u="none" baseline="0" dirty="0">
                <a:solidFill>
                  <a:srgbClr val="FFFFFF">
                    <a:alpha val="100000"/>
                  </a:srgbClr>
                </a:solidFill>
                <a:latin typeface="思源黑体 CN Normal"/>
                <a:ea typeface="思源黑体 CN Normal"/>
              </a:rPr>
              <a:t>Date</a:t>
            </a:r>
            <a:r>
              <a:rPr lang="en-US" sz="1800" b="1" i="0" u="none" baseline="0" dirty="0">
                <a:solidFill>
                  <a:srgbClr val="FFFFFF">
                    <a:alpha val="100000"/>
                  </a:srgbClr>
                </a:solidFill>
                <a:latin typeface="思源黑体 Normal"/>
                <a:ea typeface="思源黑体 Normal"/>
              </a:rPr>
              <a:t>: </a:t>
            </a:r>
            <a:r>
              <a:rPr lang="en-US" sz="1800" b="1" i="0" u="none" baseline="0" dirty="0" smtClean="0">
                <a:solidFill>
                  <a:srgbClr val="FFFFFF">
                    <a:alpha val="100000"/>
                  </a:srgbClr>
                </a:solidFill>
                <a:latin typeface="思源黑体 Normal"/>
                <a:ea typeface="思源黑体 Normal"/>
              </a:rPr>
              <a:t>2026-08-03</a:t>
            </a:r>
            <a:endParaRPr lang="en-US" sz="1800" b="1" i="0" u="none" baseline="0" dirty="0">
              <a:solidFill>
                <a:srgbClr val="FFFFFF">
                  <a:alpha val="100000"/>
                </a:srgbClr>
              </a:solidFill>
              <a:latin typeface="思源黑体 Normal"/>
              <a:ea typeface="思源黑体 Norm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929358" y="4444365"/>
            <a:ext cx="354330" cy="354330"/>
          </a:xfrm>
          <a:prstGeom prst="ellipse">
            <a:avLst/>
          </a:prstGeom>
          <a:solidFill>
            <a:srgbClr val="D8B75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037070" y="4434392"/>
            <a:ext cx="354330" cy="354330"/>
          </a:xfrm>
          <a:prstGeom prst="ellipse">
            <a:avLst/>
          </a:prstGeom>
          <a:solidFill>
            <a:srgbClr val="D8B75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3048000" y="1371600"/>
            <a:ext cx="9864372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en-US" sz="6000" b="1" i="0" u="none" baseline="0" dirty="0" smtClean="0">
                <a:solidFill>
                  <a:schemeClr val="bg1"/>
                </a:solidFill>
                <a:effectLst/>
                <a:latin typeface="思源黑体 Medium"/>
                <a:ea typeface="思源黑体 Medium"/>
              </a:rPr>
              <a:t>THANK</a:t>
            </a:r>
            <a:r>
              <a:rPr lang="en-US" sz="6000" b="1" i="0" u="none" dirty="0" smtClean="0">
                <a:solidFill>
                  <a:schemeClr val="bg1"/>
                </a:solidFill>
                <a:effectLst/>
                <a:latin typeface="思源黑体 Medium"/>
                <a:ea typeface="思源黑体 Medium"/>
              </a:rPr>
              <a:t> YOU</a:t>
            </a:r>
            <a:endParaRPr lang="en-US" sz="110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262626"/>
      </a:dk1>
      <a:lt1>
        <a:srgbClr val="FFFFFF"/>
      </a:lt1>
      <a:dk2>
        <a:srgbClr val="D8B750"/>
      </a:dk2>
      <a:lt2>
        <a:srgbClr val="FFFFFF"/>
      </a:lt2>
      <a:accent1>
        <a:srgbClr val="D8B750"/>
      </a:accent1>
      <a:accent2>
        <a:srgbClr val="D8B750"/>
      </a:accent2>
      <a:accent3>
        <a:srgbClr val="D8B750"/>
      </a:accent3>
      <a:accent4>
        <a:srgbClr val="D8B750"/>
      </a:accent4>
      <a:accent5>
        <a:srgbClr val="D8B750"/>
      </a:accent5>
      <a:accent6>
        <a:srgbClr val="D8B750"/>
      </a:accent6>
      <a:hlink>
        <a:srgbClr val="262626"/>
      </a:hlink>
      <a:folHlink>
        <a:srgbClr val="262626"/>
      </a:folHlink>
    </a:clrScheme>
    <a:fontScheme name="Office">
      <a:maj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1372</Words>
  <Application>Microsoft Office PowerPoint</Application>
  <PresentationFormat>Widescreen</PresentationFormat>
  <Paragraphs>182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思源黑体 CN Normal</vt:lpstr>
      <vt:lpstr>思源黑体 Medium</vt:lpstr>
      <vt:lpstr>思源黑体 Normal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9</cp:revision>
  <dcterms:created xsi:type="dcterms:W3CDTF">2026-08-05T14:17:35Z</dcterms:created>
  <dcterms:modified xsi:type="dcterms:W3CDTF">2026-10-04T15:35:28Z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{"ContentPropagator":"文多多","Label":"1","ReservedCode1":"1785939455466","ProduceID":"wenduoduo-pptx-1785939455466","ReservedCode2":"1785939455466","PropagateID":"wenduoduo-pptx1785939455466","ContentProducer":"文多多"}</vt:lpwstr>
  </property>
</Properties>
</file>